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9" roundtripDataSignature="AMtx7mh/RW0HA3EIG4u6HjQgLYvaedS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605949926c0d67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h605949926c0d6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D3A"/>
        </a:solidFill>
      </p:bgPr>
    </p:bg>
    <p:spTree>
      <p:nvGrpSpPr>
        <p:cNvPr id="83" name="Shape 83"/>
        <p:cNvGrpSpPr/>
        <p:nvPr/>
      </p:nvGrpSpPr>
      <p:grpSpPr>
        <a:xfrm>
          <a:off x="0" y="0"/>
          <a:ext cx="0" cy="0"/>
          <a:chOff x="0" y="0"/>
          <a:chExt cx="0" cy="0"/>
        </a:xfrm>
      </p:grpSpPr>
      <p:sp>
        <p:nvSpPr>
          <p:cNvPr id="84" name="Google Shape;84;p1"/>
          <p:cNvSpPr txBox="1"/>
          <p:nvPr/>
        </p:nvSpPr>
        <p:spPr>
          <a:xfrm>
            <a:off x="914400" y="2011680"/>
            <a:ext cx="1033272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pt-BR" sz="4400" u="none" cap="none" strike="noStrike">
                <a:solidFill>
                  <a:srgbClr val="FFFFFF"/>
                </a:solidFill>
                <a:latin typeface="Arial"/>
                <a:ea typeface="Arial"/>
                <a:cs typeface="Arial"/>
                <a:sym typeface="Arial"/>
              </a:rPr>
              <a:t>O Coração Eletrônico dos Robôs:</a:t>
            </a:r>
            <a:br>
              <a:rPr b="1" i="0" lang="pt-BR" sz="4400" u="none" cap="none" strike="noStrike">
                <a:solidFill>
                  <a:srgbClr val="FFFFFF"/>
                </a:solidFill>
                <a:latin typeface="Arial"/>
                <a:ea typeface="Arial"/>
                <a:cs typeface="Arial"/>
                <a:sym typeface="Arial"/>
              </a:rPr>
            </a:br>
            <a:r>
              <a:rPr b="1" i="0" lang="pt-BR" sz="4400" u="none" cap="none" strike="noStrike">
                <a:solidFill>
                  <a:srgbClr val="FFFFFF"/>
                </a:solidFill>
                <a:latin typeface="Arial"/>
                <a:ea typeface="Arial"/>
                <a:cs typeface="Arial"/>
                <a:sym typeface="Arial"/>
              </a:rPr>
              <a:t>Da Tensão ao Movimento</a:t>
            </a:r>
            <a:endParaRPr/>
          </a:p>
          <a:p>
            <a:pPr indent="0" lvl="0" marL="0" marR="0" rtl="0" algn="l">
              <a:spcBef>
                <a:spcPts val="2000"/>
              </a:spcBef>
              <a:spcAft>
                <a:spcPts val="0"/>
              </a:spcAft>
              <a:buNone/>
            </a:pPr>
            <a:r>
              <a:rPr b="0" i="0" lang="pt-BR" sz="2000" u="none" cap="none" strike="noStrike">
                <a:solidFill>
                  <a:srgbClr val="EB5E28"/>
                </a:solidFill>
                <a:latin typeface="Arial"/>
                <a:ea typeface="Arial"/>
                <a:cs typeface="Arial"/>
                <a:sym typeface="Arial"/>
              </a:rPr>
              <a:t>Como a eletrônica dá vida, inteligência e controle aos sistemas mecânicos.</a:t>
            </a:r>
            <a:endParaRPr/>
          </a:p>
          <a:p>
            <a:pPr indent="0" lvl="0" marL="0" marR="0" rtl="0" algn="l">
              <a:spcBef>
                <a:spcPts val="4000"/>
              </a:spcBef>
              <a:spcAft>
                <a:spcPts val="0"/>
              </a:spcAft>
              <a:buNone/>
            </a:pPr>
            <a:r>
              <a:rPr b="0" i="0" lang="pt-BR" sz="1400" u="none" cap="none" strike="noStrike">
                <a:solidFill>
                  <a:srgbClr val="6C757D"/>
                </a:solidFill>
                <a:latin typeface="Arial"/>
                <a:ea typeface="Arial"/>
                <a:cs typeface="Arial"/>
                <a:sym typeface="Arial"/>
              </a:rPr>
              <a:t>Estrutura de Aula (2 Horas)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88" name="Shape 88"/>
        <p:cNvGrpSpPr/>
        <p:nvPr/>
      </p:nvGrpSpPr>
      <p:grpSpPr>
        <a:xfrm>
          <a:off x="0" y="0"/>
          <a:ext cx="0" cy="0"/>
          <a:chOff x="0" y="0"/>
          <a:chExt cx="0" cy="0"/>
        </a:xfrm>
      </p:grpSpPr>
      <p:sp>
        <p:nvSpPr>
          <p:cNvPr id="89" name="Google Shape;89;p2"/>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pt-BR" sz="3200" u="none" cap="none" strike="noStrike">
                <a:solidFill>
                  <a:srgbClr val="0B1D3A"/>
                </a:solidFill>
                <a:latin typeface="Arial"/>
                <a:ea typeface="Arial"/>
                <a:cs typeface="Arial"/>
                <a:sym typeface="Arial"/>
              </a:rPr>
              <a:t>O que é um Robô? (A Tríade da Robótica)</a:t>
            </a:r>
            <a:endParaRPr/>
          </a:p>
        </p:txBody>
      </p:sp>
      <p:sp>
        <p:nvSpPr>
          <p:cNvPr id="90" name="Google Shape;90;p2"/>
          <p:cNvSpPr txBox="1"/>
          <p:nvPr/>
        </p:nvSpPr>
        <p:spPr>
          <a:xfrm>
            <a:off x="731520" y="1645920"/>
            <a:ext cx="10698480" cy="33034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Mecânica (O Corpo):</a:t>
            </a:r>
            <a:r>
              <a:rPr lang="pt-BR" sz="1800">
                <a:solidFill>
                  <a:srgbClr val="212529"/>
                </a:solidFill>
                <a:latin typeface="Calibri"/>
                <a:ea typeface="Calibri"/>
                <a:cs typeface="Calibri"/>
                <a:sym typeface="Calibri"/>
              </a:rPr>
              <a:t> Estrutura física, chassis, engrenagens, articulações e atuadores que conectam as partes móveis mecânicas aos circuitos  comandados.</a:t>
            </a:r>
            <a:endParaRPr/>
          </a:p>
          <a:p>
            <a:pPr indent="0" lvl="0" marL="0" marR="0" rtl="0" algn="l">
              <a:spcBef>
                <a:spcPts val="1400"/>
              </a:spcBef>
              <a:spcAft>
                <a:spcPts val="0"/>
              </a:spcAft>
              <a:buNone/>
            </a:pPr>
            <a:r>
              <a:rPr b="1" lang="pt-BR" sz="1800">
                <a:solidFill>
                  <a:srgbClr val="0B1D3A"/>
                </a:solidFill>
                <a:latin typeface="Calibri"/>
                <a:ea typeface="Calibri"/>
                <a:cs typeface="Calibri"/>
                <a:sym typeface="Calibri"/>
              </a:rPr>
              <a:t>Eletrônica (O Sistema Nervoso e Músculos):</a:t>
            </a:r>
            <a:r>
              <a:rPr lang="pt-BR" sz="1800">
                <a:solidFill>
                  <a:srgbClr val="212529"/>
                </a:solidFill>
                <a:latin typeface="Calibri"/>
                <a:ea typeface="Calibri"/>
                <a:cs typeface="Calibri"/>
                <a:sym typeface="Calibri"/>
              </a:rPr>
              <a:t> Circuitos, gerenciamento de energia, fiação e tráfego de sinais elétricos. A Eletrônica em conjunto com a mecânica  tem o nome de Hardware do projeto</a:t>
            </a:r>
            <a:endParaRPr sz="1800">
              <a:solidFill>
                <a:srgbClr val="212529"/>
              </a:solidFill>
              <a:latin typeface="Calibri"/>
              <a:ea typeface="Calibri"/>
              <a:cs typeface="Calibri"/>
              <a:sym typeface="Calibri"/>
            </a:endParaRPr>
          </a:p>
          <a:p>
            <a:pPr indent="0" lvl="0" marL="0" marR="0" rtl="0" algn="l">
              <a:spcBef>
                <a:spcPts val="1400"/>
              </a:spcBef>
              <a:spcAft>
                <a:spcPts val="0"/>
              </a:spcAft>
              <a:buNone/>
            </a:pPr>
            <a:r>
              <a:rPr b="1" lang="pt-BR" sz="1800">
                <a:solidFill>
                  <a:srgbClr val="0B1D3A"/>
                </a:solidFill>
                <a:latin typeface="Calibri"/>
                <a:ea typeface="Calibri"/>
                <a:cs typeface="Calibri"/>
                <a:sym typeface="Calibri"/>
              </a:rPr>
              <a:t>Programação/Software (A Mente):</a:t>
            </a:r>
            <a:r>
              <a:rPr lang="pt-BR" sz="1800">
                <a:solidFill>
                  <a:srgbClr val="212529"/>
                </a:solidFill>
                <a:latin typeface="Calibri"/>
                <a:ea typeface="Calibri"/>
                <a:cs typeface="Calibri"/>
                <a:sym typeface="Calibri"/>
              </a:rPr>
              <a:t> Lógica, tomada de decisões e algoritmos que processam os dados.</a:t>
            </a:r>
            <a:endParaRPr/>
          </a:p>
          <a:p>
            <a:pPr indent="0" lvl="0" marL="0" marR="0" rtl="0" algn="l">
              <a:spcBef>
                <a:spcPts val="1400"/>
              </a:spcBef>
              <a:spcAft>
                <a:spcPts val="0"/>
              </a:spcAft>
              <a:buNone/>
            </a:pPr>
            <a:br>
              <a:rPr b="1" lang="pt-BR" sz="1800">
                <a:solidFill>
                  <a:srgbClr val="EB5E28"/>
                </a:solidFill>
                <a:latin typeface="Calibri"/>
                <a:ea typeface="Calibri"/>
                <a:cs typeface="Calibri"/>
                <a:sym typeface="Calibri"/>
              </a:rPr>
            </a:br>
            <a:r>
              <a:rPr b="1" lang="pt-BR" sz="1800">
                <a:solidFill>
                  <a:srgbClr val="EB5E28"/>
                </a:solidFill>
                <a:latin typeface="Calibri"/>
                <a:ea typeface="Calibri"/>
                <a:cs typeface="Calibri"/>
                <a:sym typeface="Calibri"/>
              </a:rPr>
              <a:t>Nota Importante:</a:t>
            </a:r>
            <a:r>
              <a:rPr lang="pt-BR" sz="1800">
                <a:solidFill>
                  <a:srgbClr val="212529"/>
                </a:solidFill>
                <a:latin typeface="Calibri"/>
                <a:ea typeface="Calibri"/>
                <a:cs typeface="Calibri"/>
                <a:sym typeface="Calibri"/>
              </a:rPr>
              <a:t> Sem a eletrônica ( Hardare mais Software), a mecânica permanece estática e o software não possui uma interface física para interagir com o mundo real.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4" name="Shape 94"/>
        <p:cNvGrpSpPr/>
        <p:nvPr/>
      </p:nvGrpSpPr>
      <p:grpSpPr>
        <a:xfrm>
          <a:off x="0" y="0"/>
          <a:ext cx="0" cy="0"/>
          <a:chOff x="0" y="0"/>
          <a:chExt cx="0" cy="0"/>
        </a:xfrm>
      </p:grpSpPr>
      <p:sp>
        <p:nvSpPr>
          <p:cNvPr id="95" name="Google Shape;95;p3"/>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0B1D3A"/>
                </a:solidFill>
                <a:latin typeface="Arial"/>
                <a:ea typeface="Arial"/>
                <a:cs typeface="Arial"/>
                <a:sym typeface="Arial"/>
              </a:rPr>
              <a:t>Fundamentos Essenciais: As 3 Grandezas do Circuito</a:t>
            </a:r>
            <a:endParaRPr/>
          </a:p>
        </p:txBody>
      </p:sp>
      <p:sp>
        <p:nvSpPr>
          <p:cNvPr id="96" name="Google Shape;96;p3"/>
          <p:cNvSpPr txBox="1"/>
          <p:nvPr/>
        </p:nvSpPr>
        <p:spPr>
          <a:xfrm>
            <a:off x="731520" y="1645920"/>
            <a:ext cx="10698480" cy="39292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Tensão Elétrica (V):</a:t>
            </a:r>
            <a:r>
              <a:rPr lang="pt-BR" sz="1800">
                <a:solidFill>
                  <a:srgbClr val="212529"/>
                </a:solidFill>
                <a:latin typeface="Calibri"/>
                <a:ea typeface="Calibri"/>
                <a:cs typeface="Calibri"/>
                <a:sym typeface="Calibri"/>
              </a:rPr>
              <a:t> A força/pressão que empurra os elétrons através do circuito. Medida em Volts. Ex: Baterias comuns de  1.5V, 5V, 9V ou 12V. A tensão elétrica, também chamada de Voltagem, </a:t>
            </a:r>
            <a:r>
              <a:rPr lang="pt-BR" sz="1800" u="sng">
                <a:solidFill>
                  <a:srgbClr val="212529"/>
                </a:solidFill>
                <a:latin typeface="Calibri"/>
                <a:ea typeface="Calibri"/>
                <a:cs typeface="Calibri"/>
                <a:sym typeface="Calibri"/>
              </a:rPr>
              <a:t>sempre é uma medida de diferença entre um ponto e um outro ponto de referência , ambos seguindo o desejo do  avaliador.</a:t>
            </a:r>
            <a:endParaRPr sz="1800" u="sng">
              <a:solidFill>
                <a:srgbClr val="212529"/>
              </a:solidFill>
              <a:latin typeface="Calibri"/>
              <a:ea typeface="Calibri"/>
              <a:cs typeface="Calibri"/>
              <a:sym typeface="Calibri"/>
            </a:endParaRPr>
          </a:p>
          <a:p>
            <a:pPr indent="0" lvl="0" marL="0" marR="0" rtl="0" algn="l">
              <a:spcBef>
                <a:spcPts val="2000"/>
              </a:spcBef>
              <a:spcAft>
                <a:spcPts val="0"/>
              </a:spcAft>
              <a:buNone/>
            </a:pPr>
            <a:r>
              <a:rPr b="1" lang="pt-BR" sz="1800">
                <a:solidFill>
                  <a:srgbClr val="0B1D3A"/>
                </a:solidFill>
                <a:latin typeface="Calibri"/>
                <a:ea typeface="Calibri"/>
                <a:cs typeface="Calibri"/>
                <a:sym typeface="Calibri"/>
              </a:rPr>
              <a:t>Corrente Elétrica (I):</a:t>
            </a:r>
            <a:r>
              <a:rPr lang="pt-BR" sz="1800">
                <a:solidFill>
                  <a:srgbClr val="212529"/>
                </a:solidFill>
                <a:latin typeface="Calibri"/>
                <a:ea typeface="Calibri"/>
                <a:cs typeface="Calibri"/>
                <a:sym typeface="Calibri"/>
              </a:rPr>
              <a:t> O fluxo ordenado de elétrons que passa por um condutor quando há tensão. Medida em Amperes (A). A grandeza Ampere é muito grande, sendo comum termos em projeto valores sub múltiplos de 1 A, como 1mA, 10mA, etc. </a:t>
            </a:r>
            <a:endParaRPr sz="1800">
              <a:solidFill>
                <a:srgbClr val="212529"/>
              </a:solidFill>
              <a:latin typeface="Calibri"/>
              <a:ea typeface="Calibri"/>
              <a:cs typeface="Calibri"/>
              <a:sym typeface="Calibri"/>
            </a:endParaRPr>
          </a:p>
          <a:p>
            <a:pPr indent="0" lvl="0" marL="0" marR="0" rtl="0" algn="l">
              <a:spcBef>
                <a:spcPts val="2000"/>
              </a:spcBef>
              <a:spcAft>
                <a:spcPts val="0"/>
              </a:spcAft>
              <a:buNone/>
            </a:pPr>
            <a:r>
              <a:rPr b="1" lang="pt-BR" sz="1800">
                <a:solidFill>
                  <a:srgbClr val="0B1D3A"/>
                </a:solidFill>
                <a:latin typeface="Calibri"/>
                <a:ea typeface="Calibri"/>
                <a:cs typeface="Calibri"/>
                <a:sym typeface="Calibri"/>
              </a:rPr>
              <a:t>Resistência Elétrica (R):</a:t>
            </a:r>
            <a:r>
              <a:rPr lang="pt-BR" sz="1800">
                <a:solidFill>
                  <a:srgbClr val="212529"/>
                </a:solidFill>
                <a:latin typeface="Calibri"/>
                <a:ea typeface="Calibri"/>
                <a:cs typeface="Calibri"/>
                <a:sym typeface="Calibri"/>
              </a:rPr>
              <a:t> Característica linear da maioria dos materiais condutores de eletricidade. O valor da resistência caracteriza a oposição física do material à passagem da corrente sob o efeito de uma tensão imposta, limitando o fluxo de elétrons. Medida em Ohms (Ω). Para todos os materiais resistivos é válida a relação </a:t>
            </a:r>
            <a:r>
              <a:rPr b="1" lang="pt-BR" sz="1800">
                <a:solidFill>
                  <a:srgbClr val="212529"/>
                </a:solidFill>
                <a:latin typeface="Calibri"/>
                <a:ea typeface="Calibri"/>
                <a:cs typeface="Calibri"/>
                <a:sym typeface="Calibri"/>
              </a:rPr>
              <a:t>V=R x I </a:t>
            </a:r>
            <a:r>
              <a:rPr lang="pt-BR" sz="1800">
                <a:solidFill>
                  <a:srgbClr val="212529"/>
                </a:solidFill>
                <a:latin typeface="Calibri"/>
                <a:ea typeface="Calibri"/>
                <a:cs typeface="Calibri"/>
                <a:sym typeface="Calibri"/>
              </a:rPr>
              <a:t>, sendo </a:t>
            </a:r>
            <a:r>
              <a:rPr b="1" lang="pt-BR" sz="1800">
                <a:solidFill>
                  <a:srgbClr val="212529"/>
                </a:solidFill>
                <a:latin typeface="Calibri"/>
                <a:ea typeface="Calibri"/>
                <a:cs typeface="Calibri"/>
                <a:sym typeface="Calibri"/>
              </a:rPr>
              <a:t>V </a:t>
            </a:r>
            <a:r>
              <a:rPr lang="pt-BR" sz="1800">
                <a:solidFill>
                  <a:srgbClr val="212529"/>
                </a:solidFill>
                <a:latin typeface="Calibri"/>
                <a:ea typeface="Calibri"/>
                <a:cs typeface="Calibri"/>
                <a:sym typeface="Calibri"/>
              </a:rPr>
              <a:t>a tensão imposta ao material, </a:t>
            </a:r>
            <a:r>
              <a:rPr b="1" lang="pt-BR" sz="1800">
                <a:solidFill>
                  <a:srgbClr val="212529"/>
                </a:solidFill>
                <a:latin typeface="Calibri"/>
                <a:ea typeface="Calibri"/>
                <a:cs typeface="Calibri"/>
                <a:sym typeface="Calibri"/>
              </a:rPr>
              <a:t>R </a:t>
            </a:r>
            <a:r>
              <a:rPr lang="pt-BR" sz="1800">
                <a:solidFill>
                  <a:srgbClr val="212529"/>
                </a:solidFill>
                <a:latin typeface="Calibri"/>
                <a:ea typeface="Calibri"/>
                <a:cs typeface="Calibri"/>
                <a:sym typeface="Calibri"/>
              </a:rPr>
              <a:t>o valor da sua resistência,  específica a cada material, naturalmente ou por desenvolvimento, e </a:t>
            </a:r>
            <a:r>
              <a:rPr b="1" lang="pt-BR" sz="1800">
                <a:solidFill>
                  <a:srgbClr val="212529"/>
                </a:solidFill>
                <a:latin typeface="Calibri"/>
                <a:ea typeface="Calibri"/>
                <a:cs typeface="Calibri"/>
                <a:sym typeface="Calibri"/>
              </a:rPr>
              <a:t>I  </a:t>
            </a:r>
            <a:r>
              <a:rPr lang="pt-BR" sz="1800">
                <a:solidFill>
                  <a:srgbClr val="212529"/>
                </a:solidFill>
                <a:latin typeface="Calibri"/>
                <a:ea typeface="Calibri"/>
                <a:cs typeface="Calibri"/>
                <a:sym typeface="Calibri"/>
              </a:rPr>
              <a:t>a corrente que o material permite a passagem sob o efeito daquela tensão. </a:t>
            </a:r>
            <a:endParaRPr sz="1800">
              <a:solidFill>
                <a:srgbClr val="21252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00" name="Shape 100"/>
        <p:cNvGrpSpPr/>
        <p:nvPr/>
      </p:nvGrpSpPr>
      <p:grpSpPr>
        <a:xfrm>
          <a:off x="0" y="0"/>
          <a:ext cx="0" cy="0"/>
          <a:chOff x="0" y="0"/>
          <a:chExt cx="0" cy="0"/>
        </a:xfrm>
      </p:grpSpPr>
      <p:sp>
        <p:nvSpPr>
          <p:cNvPr id="101" name="Google Shape;101;p4"/>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0B1D3A"/>
                </a:solidFill>
                <a:latin typeface="Arial"/>
                <a:ea typeface="Arial"/>
                <a:cs typeface="Arial"/>
                <a:sym typeface="Arial"/>
              </a:rPr>
              <a:t>O Cérebro Eletrônico: Microcontroladores</a:t>
            </a:r>
            <a:endParaRPr/>
          </a:p>
        </p:txBody>
      </p:sp>
      <p:sp>
        <p:nvSpPr>
          <p:cNvPr id="102" name="Google Shape;102;p4"/>
          <p:cNvSpPr txBox="1"/>
          <p:nvPr/>
        </p:nvSpPr>
        <p:spPr>
          <a:xfrm>
            <a:off x="731520" y="1645920"/>
            <a:ext cx="10698480"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Microprocessador vs. Microcontrolador:</a:t>
            </a:r>
            <a:r>
              <a:rPr lang="pt-BR" sz="1800">
                <a:solidFill>
                  <a:srgbClr val="212529"/>
                </a:solidFill>
                <a:latin typeface="Calibri"/>
                <a:ea typeface="Calibri"/>
                <a:cs typeface="Calibri"/>
                <a:sym typeface="Calibri"/>
              </a:rPr>
              <a:t> Processadores (como de PCs) exigem periféricos externos. Microcontroladores integram CPU, memória e periféricos em um único chip focado em tarefas específicas.</a:t>
            </a:r>
            <a:endParaRPr/>
          </a:p>
          <a:p>
            <a:pPr indent="0" lvl="0" marL="0" marR="0" rtl="0" algn="l">
              <a:spcBef>
                <a:spcPts val="1800"/>
              </a:spcBef>
              <a:spcAft>
                <a:spcPts val="0"/>
              </a:spcAft>
              <a:buNone/>
            </a:pPr>
            <a:r>
              <a:rPr b="1" lang="pt-BR" sz="1800">
                <a:solidFill>
                  <a:srgbClr val="0B1D3A"/>
                </a:solidFill>
                <a:latin typeface="Calibri"/>
                <a:ea typeface="Calibri"/>
                <a:cs typeface="Calibri"/>
                <a:sym typeface="Calibri"/>
              </a:rPr>
              <a:t>Plataforma Arduino:</a:t>
            </a:r>
            <a:r>
              <a:rPr lang="pt-BR" sz="1800">
                <a:solidFill>
                  <a:srgbClr val="212529"/>
                </a:solidFill>
                <a:latin typeface="Calibri"/>
                <a:ea typeface="Calibri"/>
                <a:cs typeface="Calibri"/>
                <a:sym typeface="Calibri"/>
              </a:rPr>
              <a:t> Ecossistema de código aberto amplamente utilizado para prototipagem rápida e aprendizado prático de robótica.</a:t>
            </a:r>
            <a:endParaRPr/>
          </a:p>
          <a:p>
            <a:pPr indent="0" lvl="0" marL="0" marR="0" rtl="0" algn="l">
              <a:spcBef>
                <a:spcPts val="1800"/>
              </a:spcBef>
              <a:spcAft>
                <a:spcPts val="0"/>
              </a:spcAft>
              <a:buNone/>
            </a:pPr>
            <a:r>
              <a:rPr b="1" lang="pt-BR" sz="1800">
                <a:solidFill>
                  <a:srgbClr val="0B1D3A"/>
                </a:solidFill>
                <a:latin typeface="Calibri"/>
                <a:ea typeface="Calibri"/>
                <a:cs typeface="Calibri"/>
                <a:sym typeface="Calibri"/>
              </a:rPr>
              <a:t>Anatomia de uma Placa de Controle (Ex: Arduino Uno):</a:t>
            </a:r>
            <a:r>
              <a:rPr lang="pt-BR" sz="1800">
                <a:solidFill>
                  <a:srgbClr val="212529"/>
                </a:solidFill>
                <a:latin typeface="Calibri"/>
                <a:ea typeface="Calibri"/>
                <a:cs typeface="Calibri"/>
                <a:sym typeface="Calibri"/>
              </a:rPr>
              <a:t> Pinos Digitais (entrada/saída de dados binários), Pinos Analógicos (leituras de tensões variáveis) e o chip principal (ATmega328P).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06" name="Shape 106"/>
        <p:cNvGrpSpPr/>
        <p:nvPr/>
      </p:nvGrpSpPr>
      <p:grpSpPr>
        <a:xfrm>
          <a:off x="0" y="0"/>
          <a:ext cx="0" cy="0"/>
          <a:chOff x="0" y="0"/>
          <a:chExt cx="0" cy="0"/>
        </a:xfrm>
      </p:grpSpPr>
      <p:sp>
        <p:nvSpPr>
          <p:cNvPr id="107" name="Google Shape;107;p5"/>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0B1D3A"/>
                </a:solidFill>
                <a:latin typeface="Arial"/>
                <a:ea typeface="Arial"/>
                <a:cs typeface="Arial"/>
                <a:sym typeface="Arial"/>
              </a:rPr>
              <a:t>Entendendo os Sinais Eletrônicos</a:t>
            </a:r>
            <a:endParaRPr/>
          </a:p>
        </p:txBody>
      </p:sp>
      <p:sp>
        <p:nvSpPr>
          <p:cNvPr id="108" name="Google Shape;108;p5"/>
          <p:cNvSpPr txBox="1"/>
          <p:nvPr/>
        </p:nvSpPr>
        <p:spPr>
          <a:xfrm>
            <a:off x="731520" y="1645920"/>
            <a:ext cx="10698480" cy="43396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Sinal Digital:</a:t>
            </a:r>
            <a:r>
              <a:rPr lang="pt-BR" sz="1800">
                <a:solidFill>
                  <a:srgbClr val="212529"/>
                </a:solidFill>
                <a:latin typeface="Calibri"/>
                <a:ea typeface="Calibri"/>
                <a:cs typeface="Calibri"/>
                <a:sym typeface="Calibri"/>
              </a:rPr>
              <a:t> Possui estados discretos e bem definidos. Geralmente trabalha com apenas dois níveis: LIGADO ( nível lógico “1“ / impondo  5V na porta que tem essa definição lógica ) ou DESLIGADO ( nível lógico “0" / impondo 0V na porta com essa definição lógica). </a:t>
            </a:r>
            <a:br>
              <a:rPr lang="pt-BR" sz="1800">
                <a:solidFill>
                  <a:srgbClr val="212529"/>
                </a:solidFill>
                <a:latin typeface="Calibri"/>
                <a:ea typeface="Calibri"/>
                <a:cs typeface="Calibri"/>
                <a:sym typeface="Calibri"/>
              </a:rPr>
            </a:br>
            <a:r>
              <a:rPr lang="pt-BR" sz="1800">
                <a:solidFill>
                  <a:srgbClr val="212529"/>
                </a:solidFill>
                <a:latin typeface="Calibri"/>
                <a:ea typeface="Calibri"/>
                <a:cs typeface="Calibri"/>
                <a:sym typeface="Calibri"/>
              </a:rPr>
              <a:t>* Exemplos na prática: Um botão pressionado/solto ou um LED aceso/apagado.</a:t>
            </a:r>
            <a:endParaRPr/>
          </a:p>
          <a:p>
            <a:pPr indent="0" lvl="0" marL="0" marR="0" rtl="0" algn="l">
              <a:spcBef>
                <a:spcPts val="2400"/>
              </a:spcBef>
              <a:spcAft>
                <a:spcPts val="0"/>
              </a:spcAft>
              <a:buNone/>
            </a:pPr>
            <a:r>
              <a:rPr b="1" lang="pt-BR" sz="1800">
                <a:solidFill>
                  <a:srgbClr val="0B1D3A"/>
                </a:solidFill>
                <a:latin typeface="Calibri"/>
                <a:ea typeface="Calibri"/>
                <a:cs typeface="Calibri"/>
                <a:sym typeface="Calibri"/>
              </a:rPr>
              <a:t>Sinal Analógico:</a:t>
            </a:r>
            <a:r>
              <a:rPr lang="pt-BR" sz="1800">
                <a:solidFill>
                  <a:srgbClr val="212529"/>
                </a:solidFill>
                <a:latin typeface="Calibri"/>
                <a:ea typeface="Calibri"/>
                <a:cs typeface="Calibri"/>
                <a:sym typeface="Calibri"/>
              </a:rPr>
              <a:t> Varia </a:t>
            </a:r>
            <a:r>
              <a:rPr lang="pt-BR" sz="1800" u="sng">
                <a:solidFill>
                  <a:srgbClr val="212529"/>
                </a:solidFill>
                <a:latin typeface="Calibri"/>
                <a:ea typeface="Calibri"/>
                <a:cs typeface="Calibri"/>
                <a:sym typeface="Calibri"/>
              </a:rPr>
              <a:t>continuamente ao longo do tempo, podendo assumir infinitos valores em uma faixa de tensão.</a:t>
            </a:r>
            <a:r>
              <a:rPr lang="pt-BR" sz="1800">
                <a:solidFill>
                  <a:srgbClr val="212529"/>
                </a:solidFill>
                <a:latin typeface="Calibri"/>
                <a:ea typeface="Calibri"/>
                <a:cs typeface="Calibri"/>
                <a:sym typeface="Calibri"/>
              </a:rPr>
              <a:t> Em geral a faixa de tensão é a definida para o funcionamento do processador. Ex. o processador Arduíno Uno, tem alimentação de 5V, portanto a máxima tensão analógica medida será de 5V. Obs. as tensão medidas são continuas e infinitas em valor, mas a decisão e a armazenagem delas em memória eletrônica sempre terá uma diferença, para mais ou menos, em função da quantidade de bits de codificação. </a:t>
            </a:r>
            <a:br>
              <a:rPr lang="pt-BR" sz="1800">
                <a:solidFill>
                  <a:srgbClr val="212529"/>
                </a:solidFill>
                <a:latin typeface="Calibri"/>
                <a:ea typeface="Calibri"/>
                <a:cs typeface="Calibri"/>
                <a:sym typeface="Calibri"/>
              </a:rPr>
            </a:br>
            <a:r>
              <a:rPr lang="pt-BR" sz="1800">
                <a:solidFill>
                  <a:srgbClr val="212529"/>
                </a:solidFill>
                <a:latin typeface="Calibri"/>
                <a:ea typeface="Calibri"/>
                <a:cs typeface="Calibri"/>
                <a:sym typeface="Calibri"/>
              </a:rPr>
              <a:t>* Exemplos na prática: Variação de temperatura de um sensor, intensidade de luz ambiente ou leituras de distância dinâmicas.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12" name="Shape 112"/>
        <p:cNvGrpSpPr/>
        <p:nvPr/>
      </p:nvGrpSpPr>
      <p:grpSpPr>
        <a:xfrm>
          <a:off x="0" y="0"/>
          <a:ext cx="0" cy="0"/>
          <a:chOff x="0" y="0"/>
          <a:chExt cx="0" cy="0"/>
        </a:xfrm>
      </p:grpSpPr>
      <p:sp>
        <p:nvSpPr>
          <p:cNvPr id="113" name="Google Shape;113;p6"/>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0B1D3A"/>
                </a:solidFill>
                <a:latin typeface="Arial"/>
                <a:ea typeface="Arial"/>
                <a:cs typeface="Arial"/>
                <a:sym typeface="Arial"/>
              </a:rPr>
              <a:t>O Truque do PWM (Pulse Width Modulation)</a:t>
            </a:r>
            <a:endParaRPr/>
          </a:p>
        </p:txBody>
      </p:sp>
      <p:sp>
        <p:nvSpPr>
          <p:cNvPr id="114" name="Google Shape;114;p6"/>
          <p:cNvSpPr txBox="1"/>
          <p:nvPr/>
        </p:nvSpPr>
        <p:spPr>
          <a:xfrm>
            <a:off x="731520" y="1645920"/>
            <a:ext cx="10698480"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Modulação por Largura de Pulso:</a:t>
            </a:r>
            <a:r>
              <a:rPr lang="pt-BR" sz="1800">
                <a:solidFill>
                  <a:srgbClr val="212529"/>
                </a:solidFill>
                <a:latin typeface="Calibri"/>
                <a:ea typeface="Calibri"/>
                <a:cs typeface="Calibri"/>
                <a:sym typeface="Calibri"/>
              </a:rPr>
              <a:t> Técnica que simula tensões analógicas variando o tempo em que o sinal digital permanece ligado em um ciclo fixo (Duty Cycle).</a:t>
            </a:r>
            <a:endParaRPr/>
          </a:p>
          <a:p>
            <a:pPr indent="0" lvl="0" marL="0" marR="0" rtl="0" algn="l">
              <a:spcBef>
                <a:spcPts val="1800"/>
              </a:spcBef>
              <a:spcAft>
                <a:spcPts val="0"/>
              </a:spcAft>
              <a:buNone/>
            </a:pPr>
            <a:r>
              <a:rPr b="1" lang="pt-BR" sz="1800">
                <a:solidFill>
                  <a:srgbClr val="0B1D3A"/>
                </a:solidFill>
                <a:latin typeface="Calibri"/>
                <a:ea typeface="Calibri"/>
                <a:cs typeface="Calibri"/>
                <a:sym typeface="Calibri"/>
              </a:rPr>
              <a:t>Ilusão Eletrônica:</a:t>
            </a:r>
            <a:r>
              <a:rPr lang="pt-BR" sz="1800">
                <a:solidFill>
                  <a:srgbClr val="212529"/>
                </a:solidFill>
                <a:latin typeface="Calibri"/>
                <a:ea typeface="Calibri"/>
                <a:cs typeface="Calibri"/>
                <a:sym typeface="Calibri"/>
              </a:rPr>
              <a:t> Ao ligar e desligar a energia milhares de vezes por segundo, o componente recebe uma média ponderada da potência elétrica.</a:t>
            </a:r>
            <a:endParaRPr/>
          </a:p>
          <a:p>
            <a:pPr indent="0" lvl="0" marL="0" marR="0" rtl="0" algn="l">
              <a:spcBef>
                <a:spcPts val="1800"/>
              </a:spcBef>
              <a:spcAft>
                <a:spcPts val="0"/>
              </a:spcAft>
              <a:buNone/>
            </a:pPr>
            <a:r>
              <a:rPr b="1" lang="pt-BR" sz="1800">
                <a:solidFill>
                  <a:srgbClr val="0B1D3A"/>
                </a:solidFill>
                <a:latin typeface="Calibri"/>
                <a:ea typeface="Calibri"/>
                <a:cs typeface="Calibri"/>
                <a:sym typeface="Calibri"/>
              </a:rPr>
              <a:t>Aplicações Cruciais:</a:t>
            </a:r>
            <a:r>
              <a:rPr lang="pt-BR" sz="1800">
                <a:solidFill>
                  <a:srgbClr val="212529"/>
                </a:solidFill>
                <a:latin typeface="Calibri"/>
                <a:ea typeface="Calibri"/>
                <a:cs typeface="Calibri"/>
                <a:sym typeface="Calibri"/>
              </a:rPr>
              <a:t> Ajustar a velocidade de rotação de motores elétricos, alterar o brilho de LEDs ou posicionar garras controladas por servos.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18" name="Shape 118"/>
        <p:cNvGrpSpPr/>
        <p:nvPr/>
      </p:nvGrpSpPr>
      <p:grpSpPr>
        <a:xfrm>
          <a:off x="0" y="0"/>
          <a:ext cx="0" cy="0"/>
          <a:chOff x="0" y="0"/>
          <a:chExt cx="0" cy="0"/>
        </a:xfrm>
      </p:grpSpPr>
      <p:sp>
        <p:nvSpPr>
          <p:cNvPr id="119" name="Google Shape;119;p7"/>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0B1D3A"/>
                </a:solidFill>
                <a:latin typeface="Arial"/>
                <a:ea typeface="Arial"/>
                <a:cs typeface="Arial"/>
                <a:sym typeface="Arial"/>
              </a:rPr>
              <a:t>Sensores: Os Sentidos do Robô</a:t>
            </a:r>
            <a:endParaRPr/>
          </a:p>
        </p:txBody>
      </p:sp>
      <p:sp>
        <p:nvSpPr>
          <p:cNvPr id="120" name="Google Shape;120;p7"/>
          <p:cNvSpPr txBox="1"/>
          <p:nvPr/>
        </p:nvSpPr>
        <p:spPr>
          <a:xfrm>
            <a:off x="731520" y="1645920"/>
            <a:ext cx="10698480"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Conversão Física:</a:t>
            </a:r>
            <a:r>
              <a:rPr lang="pt-BR" sz="1800">
                <a:solidFill>
                  <a:srgbClr val="212529"/>
                </a:solidFill>
                <a:latin typeface="Calibri"/>
                <a:ea typeface="Calibri"/>
                <a:cs typeface="Calibri"/>
                <a:sym typeface="Calibri"/>
              </a:rPr>
              <a:t> Componentes que capturam grandezas do ambiente externo (luz, calor, distância) e as convertem em sinais elétricos interpretáveis.</a:t>
            </a:r>
            <a:endParaRPr/>
          </a:p>
          <a:p>
            <a:pPr indent="0" lvl="0" marL="0" marR="0" rtl="0" algn="l">
              <a:spcBef>
                <a:spcPts val="1400"/>
              </a:spcBef>
              <a:spcAft>
                <a:spcPts val="0"/>
              </a:spcAft>
              <a:buNone/>
            </a:pPr>
            <a:r>
              <a:rPr b="1" lang="pt-BR" sz="1800">
                <a:solidFill>
                  <a:srgbClr val="0B1D3A"/>
                </a:solidFill>
                <a:latin typeface="Calibri"/>
                <a:ea typeface="Calibri"/>
                <a:cs typeface="Calibri"/>
                <a:sym typeface="Calibri"/>
              </a:rPr>
              <a:t>Sensor Ultrassônico (HC-SR04):</a:t>
            </a:r>
            <a:r>
              <a:rPr lang="pt-BR" sz="1800">
                <a:solidFill>
                  <a:srgbClr val="212529"/>
                </a:solidFill>
                <a:latin typeface="Calibri"/>
                <a:ea typeface="Calibri"/>
                <a:cs typeface="Calibri"/>
                <a:sym typeface="Calibri"/>
              </a:rPr>
              <a:t> Mede distâncias emitindo ondas sonoras inaudíveis e cronometrando o tempo de retorno do eco.</a:t>
            </a:r>
            <a:endParaRPr/>
          </a:p>
          <a:p>
            <a:pPr indent="0" lvl="0" marL="0" marR="0" rtl="0" algn="l">
              <a:spcBef>
                <a:spcPts val="1400"/>
              </a:spcBef>
              <a:spcAft>
                <a:spcPts val="0"/>
              </a:spcAft>
              <a:buNone/>
            </a:pPr>
            <a:r>
              <a:rPr b="1" lang="pt-BR" sz="1800">
                <a:solidFill>
                  <a:srgbClr val="0B1D3A"/>
                </a:solidFill>
                <a:latin typeface="Calibri"/>
                <a:ea typeface="Calibri"/>
                <a:cs typeface="Calibri"/>
                <a:sym typeface="Calibri"/>
              </a:rPr>
              <a:t>Sensor LDR (Light Dependent Resistor):</a:t>
            </a:r>
            <a:r>
              <a:rPr lang="pt-BR" sz="1800">
                <a:solidFill>
                  <a:srgbClr val="212529"/>
                </a:solidFill>
                <a:latin typeface="Calibri"/>
                <a:ea typeface="Calibri"/>
                <a:cs typeface="Calibri"/>
                <a:sym typeface="Calibri"/>
              </a:rPr>
              <a:t> Altera sua resistência elétrica interna de acordo com a luminosidade do ambiente.</a:t>
            </a:r>
            <a:endParaRPr/>
          </a:p>
          <a:p>
            <a:pPr indent="0" lvl="0" marL="0" marR="0" rtl="0" algn="l">
              <a:spcBef>
                <a:spcPts val="1400"/>
              </a:spcBef>
              <a:spcAft>
                <a:spcPts val="0"/>
              </a:spcAft>
              <a:buNone/>
            </a:pPr>
            <a:r>
              <a:rPr b="1" lang="pt-BR" sz="1800">
                <a:solidFill>
                  <a:srgbClr val="0B1D3A"/>
                </a:solidFill>
                <a:latin typeface="Calibri"/>
                <a:ea typeface="Calibri"/>
                <a:cs typeface="Calibri"/>
                <a:sym typeface="Calibri"/>
              </a:rPr>
              <a:t>Sensores de Refletância Infravermelha (IR):</a:t>
            </a:r>
            <a:r>
              <a:rPr lang="pt-BR" sz="1800">
                <a:solidFill>
                  <a:srgbClr val="212529"/>
                </a:solidFill>
                <a:latin typeface="Calibri"/>
                <a:ea typeface="Calibri"/>
                <a:cs typeface="Calibri"/>
                <a:sym typeface="Calibri"/>
              </a:rPr>
              <a:t> Identificam superfícies claras ou escuras, servindo de base para robôs que seguem linhas de forma autônoma.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24" name="Shape 124"/>
        <p:cNvGrpSpPr/>
        <p:nvPr/>
      </p:nvGrpSpPr>
      <p:grpSpPr>
        <a:xfrm>
          <a:off x="0" y="0"/>
          <a:ext cx="0" cy="0"/>
          <a:chOff x="0" y="0"/>
          <a:chExt cx="0" cy="0"/>
        </a:xfrm>
      </p:grpSpPr>
      <p:sp>
        <p:nvSpPr>
          <p:cNvPr id="125" name="Google Shape;125;p8"/>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0B1D3A"/>
                </a:solidFill>
                <a:latin typeface="Arial"/>
                <a:ea typeface="Arial"/>
                <a:cs typeface="Arial"/>
                <a:sym typeface="Arial"/>
              </a:rPr>
              <a:t>Atuadores: Transformando Eletricidade em Ação</a:t>
            </a:r>
            <a:endParaRPr/>
          </a:p>
        </p:txBody>
      </p:sp>
      <p:sp>
        <p:nvSpPr>
          <p:cNvPr id="126" name="Google Shape;126;p8"/>
          <p:cNvSpPr txBox="1"/>
          <p:nvPr/>
        </p:nvSpPr>
        <p:spPr>
          <a:xfrm>
            <a:off x="731520" y="1645920"/>
            <a:ext cx="10698480"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Motor DC Comum:</a:t>
            </a:r>
            <a:r>
              <a:rPr lang="pt-BR" sz="1800">
                <a:solidFill>
                  <a:srgbClr val="212529"/>
                </a:solidFill>
                <a:latin typeface="Calibri"/>
                <a:ea typeface="Calibri"/>
                <a:cs typeface="Calibri"/>
                <a:sym typeface="Calibri"/>
              </a:rPr>
              <a:t> Fornece rotação contínua e rápida. Possui baixo torque nativo, exigindo caixas de engrenagens (redução) para mover robôs pesados.</a:t>
            </a:r>
            <a:endParaRPr/>
          </a:p>
          <a:p>
            <a:pPr indent="0" lvl="0" marL="0" marR="0" rtl="0" algn="l">
              <a:spcBef>
                <a:spcPts val="1800"/>
              </a:spcBef>
              <a:spcAft>
                <a:spcPts val="0"/>
              </a:spcAft>
              <a:buNone/>
            </a:pPr>
            <a:r>
              <a:rPr b="1" lang="pt-BR" sz="1800">
                <a:solidFill>
                  <a:srgbClr val="0B1D3A"/>
                </a:solidFill>
                <a:latin typeface="Calibri"/>
                <a:ea typeface="Calibri"/>
                <a:cs typeface="Calibri"/>
                <a:sym typeface="Calibri"/>
              </a:rPr>
              <a:t>Servomotor:</a:t>
            </a:r>
            <a:r>
              <a:rPr lang="pt-BR" sz="1800">
                <a:solidFill>
                  <a:srgbClr val="212529"/>
                </a:solidFill>
                <a:latin typeface="Calibri"/>
                <a:ea typeface="Calibri"/>
                <a:cs typeface="Calibri"/>
                <a:sym typeface="Calibri"/>
              </a:rPr>
              <a:t> Possui engrenagens e um sensor interno para controlar o ângulo exato do eixo (geralmente de 0° a 180°). Ideal para garras, pernas e braços articulados.</a:t>
            </a:r>
            <a:endParaRPr/>
          </a:p>
          <a:p>
            <a:pPr indent="0" lvl="0" marL="0" marR="0" rtl="0" algn="l">
              <a:spcBef>
                <a:spcPts val="1800"/>
              </a:spcBef>
              <a:spcAft>
                <a:spcPts val="0"/>
              </a:spcAft>
              <a:buNone/>
            </a:pPr>
            <a:r>
              <a:rPr b="1" lang="pt-BR" sz="1800">
                <a:solidFill>
                  <a:srgbClr val="0B1D3A"/>
                </a:solidFill>
                <a:latin typeface="Calibri"/>
                <a:ea typeface="Calibri"/>
                <a:cs typeface="Calibri"/>
                <a:sym typeface="Calibri"/>
              </a:rPr>
              <a:t>Motor de Passo:</a:t>
            </a:r>
            <a:r>
              <a:rPr lang="pt-BR" sz="1800">
                <a:solidFill>
                  <a:srgbClr val="212529"/>
                </a:solidFill>
                <a:latin typeface="Calibri"/>
                <a:ea typeface="Calibri"/>
                <a:cs typeface="Calibri"/>
                <a:sym typeface="Calibri"/>
              </a:rPr>
              <a:t> Divide uma rotação completa em centenas de pequenas etapas ou 'passos' discretos. Oferece altíssima precisão de posicionamento, muito utilizado em impressoras 3D e braços industriais.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30" name="Shape 130"/>
        <p:cNvGrpSpPr/>
        <p:nvPr/>
      </p:nvGrpSpPr>
      <p:grpSpPr>
        <a:xfrm>
          <a:off x="0" y="0"/>
          <a:ext cx="0" cy="0"/>
          <a:chOff x="0" y="0"/>
          <a:chExt cx="0" cy="0"/>
        </a:xfrm>
      </p:grpSpPr>
      <p:sp>
        <p:nvSpPr>
          <p:cNvPr id="131" name="Google Shape;131;p9"/>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0B1D3A"/>
                </a:solidFill>
                <a:latin typeface="Arial"/>
                <a:ea typeface="Arial"/>
                <a:cs typeface="Arial"/>
                <a:sym typeface="Arial"/>
              </a:rPr>
              <a:t>O Perigo da Corrente Direta nos Microcontroladores</a:t>
            </a:r>
            <a:endParaRPr/>
          </a:p>
        </p:txBody>
      </p:sp>
      <p:sp>
        <p:nvSpPr>
          <p:cNvPr id="132" name="Google Shape;132;p9"/>
          <p:cNvSpPr txBox="1"/>
          <p:nvPr/>
        </p:nvSpPr>
        <p:spPr>
          <a:xfrm>
            <a:off x="731520" y="1645920"/>
            <a:ext cx="10698480" cy="29956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A Limitação Elétrica:</a:t>
            </a:r>
            <a:r>
              <a:rPr lang="pt-BR" sz="1800">
                <a:solidFill>
                  <a:srgbClr val="212529"/>
                </a:solidFill>
                <a:latin typeface="Calibri"/>
                <a:ea typeface="Calibri"/>
                <a:cs typeface="Calibri"/>
                <a:sym typeface="Calibri"/>
              </a:rPr>
              <a:t> Pinos de saída de placas de controle fornecem pouca corrente (cerca de 20mA a 40mA). Um motor comum necessita de 300mA ou mais para girar sob carga. Ligar um motor direto no pino destrói o chip.</a:t>
            </a:r>
            <a:endParaRPr/>
          </a:p>
          <a:p>
            <a:pPr indent="0" lvl="0" marL="0" marR="0" rtl="0" algn="l">
              <a:spcBef>
                <a:spcPts val="1600"/>
              </a:spcBef>
              <a:spcAft>
                <a:spcPts val="0"/>
              </a:spcAft>
              <a:buNone/>
            </a:pPr>
            <a:r>
              <a:rPr b="1" lang="pt-BR" sz="1800">
                <a:solidFill>
                  <a:srgbClr val="0B1D3A"/>
                </a:solidFill>
                <a:latin typeface="Calibri"/>
                <a:ea typeface="Calibri"/>
                <a:cs typeface="Calibri"/>
                <a:sym typeface="Calibri"/>
              </a:rPr>
              <a:t>Chaves Eletrônicas de Proteção:</a:t>
            </a:r>
            <a:r>
              <a:rPr lang="pt-BR" sz="1800">
                <a:solidFill>
                  <a:srgbClr val="212529"/>
                </a:solidFill>
                <a:latin typeface="Calibri"/>
                <a:ea typeface="Calibri"/>
                <a:cs typeface="Calibri"/>
                <a:sym typeface="Calibri"/>
              </a:rPr>
              <a:t> Uso de transistores, relés e acopladores ópticos para isolar fisicamente o circuito lógico de controle do circuito de potência elétrica. Esses circuitos são projetados para atender às especificações das cargas, no exemplo, motores com necessidade de 300mA ou mais para funcionar, tendo como entrada os sinais de comando do microcontrolador em baixa corrente e tensão. </a:t>
            </a:r>
            <a:endParaRPr sz="1800">
              <a:solidFill>
                <a:srgbClr val="212529"/>
              </a:solidFill>
              <a:latin typeface="Calibri"/>
              <a:ea typeface="Calibri"/>
              <a:cs typeface="Calibri"/>
              <a:sym typeface="Calibri"/>
            </a:endParaRPr>
          </a:p>
          <a:p>
            <a:pPr indent="0" lvl="0" marL="0" marR="0" rtl="0" algn="l">
              <a:spcBef>
                <a:spcPts val="1600"/>
              </a:spcBef>
              <a:spcAft>
                <a:spcPts val="0"/>
              </a:spcAft>
              <a:buNone/>
            </a:pPr>
            <a:r>
              <a:rPr b="1" lang="pt-BR" sz="1800">
                <a:solidFill>
                  <a:srgbClr val="0B1D3A"/>
                </a:solidFill>
                <a:latin typeface="Calibri"/>
                <a:ea typeface="Calibri"/>
                <a:cs typeface="Calibri"/>
                <a:sym typeface="Calibri"/>
              </a:rPr>
              <a:t>O Driver de Motor (Ponte H):</a:t>
            </a:r>
            <a:r>
              <a:rPr lang="pt-BR" sz="1800">
                <a:solidFill>
                  <a:srgbClr val="212529"/>
                </a:solidFill>
                <a:latin typeface="Calibri"/>
                <a:ea typeface="Calibri"/>
                <a:cs typeface="Calibri"/>
                <a:sym typeface="Calibri"/>
              </a:rPr>
              <a:t> Circuitos integrados especializados (como o L298N ou L193D) que controlam tanto o sentido da rotação quanto a velocidade dos motores de carga elevada usando comandos de baixa potência.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36" name="Shape 136"/>
        <p:cNvGrpSpPr/>
        <p:nvPr/>
      </p:nvGrpSpPr>
      <p:grpSpPr>
        <a:xfrm>
          <a:off x="0" y="0"/>
          <a:ext cx="0" cy="0"/>
          <a:chOff x="0" y="0"/>
          <a:chExt cx="0" cy="0"/>
        </a:xfrm>
      </p:grpSpPr>
      <p:sp>
        <p:nvSpPr>
          <p:cNvPr id="137" name="Google Shape;137;p10"/>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0B1D3A"/>
                </a:solidFill>
                <a:latin typeface="Arial"/>
                <a:ea typeface="Arial"/>
                <a:cs typeface="Arial"/>
                <a:sym typeface="Arial"/>
              </a:rPr>
              <a:t>Alimentação e Gerenciamento de Energia</a:t>
            </a:r>
            <a:endParaRPr/>
          </a:p>
        </p:txBody>
      </p:sp>
      <p:sp>
        <p:nvSpPr>
          <p:cNvPr id="138" name="Google Shape;138;p10"/>
          <p:cNvSpPr txBox="1"/>
          <p:nvPr/>
        </p:nvSpPr>
        <p:spPr>
          <a:xfrm>
            <a:off x="731520" y="1645920"/>
            <a:ext cx="10698480" cy="27699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Baterias Convencionais vs. Alta Descarga:</a:t>
            </a:r>
            <a:r>
              <a:rPr lang="pt-BR" sz="1800">
                <a:solidFill>
                  <a:srgbClr val="212529"/>
                </a:solidFill>
                <a:latin typeface="Calibri"/>
                <a:ea typeface="Calibri"/>
                <a:cs typeface="Calibri"/>
                <a:sym typeface="Calibri"/>
              </a:rPr>
              <a:t> Baterias de Zinco-Carbono ou Alcalinas perdem tensão externa rapidamente sob carga de motores. Robôs modernos dependem de células de Íons de Lítio (18650) ou Polímero de Lítio (LiPo) pela alta taxa de corrente fornecida.</a:t>
            </a:r>
            <a:endParaRPr/>
          </a:p>
          <a:p>
            <a:pPr indent="0" lvl="0" marL="0" marR="0" rtl="0" algn="l">
              <a:spcBef>
                <a:spcPts val="1800"/>
              </a:spcBef>
              <a:spcAft>
                <a:spcPts val="0"/>
              </a:spcAft>
              <a:buNone/>
            </a:pPr>
            <a:r>
              <a:rPr b="1" lang="pt-BR" sz="1800">
                <a:solidFill>
                  <a:srgbClr val="0B1D3A"/>
                </a:solidFill>
                <a:latin typeface="Calibri"/>
                <a:ea typeface="Calibri"/>
                <a:cs typeface="Calibri"/>
                <a:sym typeface="Calibri"/>
              </a:rPr>
              <a:t>Ruídos e Interferências:</a:t>
            </a:r>
            <a:r>
              <a:rPr lang="pt-BR" sz="1800">
                <a:solidFill>
                  <a:srgbClr val="212529"/>
                </a:solidFill>
                <a:latin typeface="Calibri"/>
                <a:ea typeface="Calibri"/>
                <a:cs typeface="Calibri"/>
                <a:sym typeface="Calibri"/>
              </a:rPr>
              <a:t> Motores elétricos geram picos inversos de tensão e ruídos na rede interna ao ligar/desligar.</a:t>
            </a:r>
            <a:endParaRPr/>
          </a:p>
          <a:p>
            <a:pPr indent="0" lvl="0" marL="0" marR="0" rtl="0" algn="l">
              <a:spcBef>
                <a:spcPts val="1800"/>
              </a:spcBef>
              <a:spcAft>
                <a:spcPts val="0"/>
              </a:spcAft>
              <a:buNone/>
            </a:pPr>
            <a:r>
              <a:rPr b="1" lang="pt-BR" sz="1800">
                <a:solidFill>
                  <a:srgbClr val="0B1D3A"/>
                </a:solidFill>
                <a:latin typeface="Calibri"/>
                <a:ea typeface="Calibri"/>
                <a:cs typeface="Calibri"/>
                <a:sym typeface="Calibri"/>
              </a:rPr>
              <a:t>Regulação de Tensão Essencial:</a:t>
            </a:r>
            <a:r>
              <a:rPr lang="pt-BR" sz="1800">
                <a:solidFill>
                  <a:srgbClr val="212529"/>
                </a:solidFill>
                <a:latin typeface="Calibri"/>
                <a:ea typeface="Calibri"/>
                <a:cs typeface="Calibri"/>
                <a:sym typeface="Calibri"/>
              </a:rPr>
              <a:t> Separação de barramentos elétricos ou uso de reguladores estáveis (como conversores Buck DC-DC) para garantir 5V ou 3.3V limpos para os chips sensíveis.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46" name="Shape 146"/>
        <p:cNvGrpSpPr/>
        <p:nvPr/>
      </p:nvGrpSpPr>
      <p:grpSpPr>
        <a:xfrm>
          <a:off x="0" y="0"/>
          <a:ext cx="0" cy="0"/>
          <a:chOff x="0" y="0"/>
          <a:chExt cx="0" cy="0"/>
        </a:xfrm>
      </p:grpSpPr>
      <p:sp>
        <p:nvSpPr>
          <p:cNvPr id="147" name="Google Shape;147;p11"/>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0B1D3A"/>
                </a:solidFill>
                <a:latin typeface="Arial"/>
                <a:ea typeface="Arial"/>
                <a:cs typeface="Arial"/>
                <a:sym typeface="Arial"/>
              </a:rPr>
              <a:t>Mão na Massa: Simulação Virtual com Tinkercad Circuits</a:t>
            </a:r>
            <a:endParaRPr/>
          </a:p>
        </p:txBody>
      </p:sp>
      <p:sp>
        <p:nvSpPr>
          <p:cNvPr id="148" name="Google Shape;148;p11"/>
          <p:cNvSpPr txBox="1"/>
          <p:nvPr/>
        </p:nvSpPr>
        <p:spPr>
          <a:xfrm>
            <a:off x="731520" y="1645920"/>
            <a:ext cx="10698480"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pt-BR" sz="1800">
                <a:solidFill>
                  <a:srgbClr val="0B1D3A"/>
                </a:solidFill>
                <a:latin typeface="Calibri"/>
                <a:ea typeface="Calibri"/>
                <a:cs typeface="Calibri"/>
                <a:sym typeface="Calibri"/>
              </a:rPr>
              <a:t>A Plataforma:</a:t>
            </a:r>
            <a:r>
              <a:rPr lang="pt-BR" sz="1800">
                <a:solidFill>
                  <a:srgbClr val="212529"/>
                </a:solidFill>
                <a:latin typeface="Calibri"/>
                <a:ea typeface="Calibri"/>
                <a:cs typeface="Calibri"/>
                <a:sym typeface="Calibri"/>
              </a:rPr>
              <a:t> Uso do Autodesk Tinkercad para experimentar circuitos reais em um ambiente seguro, livre de riscos de queima de componentes físicos.</a:t>
            </a:r>
            <a:endParaRPr/>
          </a:p>
          <a:p>
            <a:pPr indent="0" lvl="0" marL="0" marR="0" rtl="0" algn="l">
              <a:spcBef>
                <a:spcPts val="1400"/>
              </a:spcBef>
              <a:spcAft>
                <a:spcPts val="0"/>
              </a:spcAft>
              <a:buNone/>
            </a:pPr>
            <a:r>
              <a:rPr b="1" lang="pt-BR" sz="1800">
                <a:solidFill>
                  <a:srgbClr val="0B1D3A"/>
                </a:solidFill>
                <a:latin typeface="Calibri"/>
                <a:ea typeface="Calibri"/>
                <a:cs typeface="Calibri"/>
                <a:sym typeface="Calibri"/>
              </a:rPr>
              <a:t>Desafio Prático Proposto:</a:t>
            </a:r>
            <a:r>
              <a:rPr lang="pt-BR" sz="1800">
                <a:solidFill>
                  <a:srgbClr val="212529"/>
                </a:solidFill>
                <a:latin typeface="Calibri"/>
                <a:ea typeface="Calibri"/>
                <a:cs typeface="Calibri"/>
                <a:sym typeface="Calibri"/>
              </a:rPr>
              <a:t> Montar um protótipo funcional de iluminação pública automatizada inteligente.</a:t>
            </a:r>
            <a:endParaRPr/>
          </a:p>
          <a:p>
            <a:pPr indent="0" lvl="0" marL="0" marR="0" rtl="0" algn="l">
              <a:spcBef>
                <a:spcPts val="1400"/>
              </a:spcBef>
              <a:spcAft>
                <a:spcPts val="0"/>
              </a:spcAft>
              <a:buNone/>
            </a:pPr>
            <a:r>
              <a:rPr b="1" lang="pt-BR" sz="1800">
                <a:solidFill>
                  <a:srgbClr val="0B1D3A"/>
                </a:solidFill>
                <a:latin typeface="Calibri"/>
                <a:ea typeface="Calibri"/>
                <a:cs typeface="Calibri"/>
                <a:sym typeface="Calibri"/>
              </a:rPr>
              <a:t>Componentes do Exercício:</a:t>
            </a:r>
            <a:r>
              <a:rPr lang="pt-BR" sz="1800">
                <a:solidFill>
                  <a:srgbClr val="212529"/>
                </a:solidFill>
                <a:latin typeface="Calibri"/>
                <a:ea typeface="Calibri"/>
                <a:cs typeface="Calibri"/>
                <a:sym typeface="Calibri"/>
              </a:rPr>
              <a:t> Uma placa microcontroladora Arduino, uma matriz de contatos (Protoboard), um sensor LDR de luminosidade ambiente, resistores e um LED.</a:t>
            </a:r>
            <a:endParaRPr/>
          </a:p>
          <a:p>
            <a:pPr indent="0" lvl="0" marL="0" marR="0" rtl="0" algn="l">
              <a:spcBef>
                <a:spcPts val="1400"/>
              </a:spcBef>
              <a:spcAft>
                <a:spcPts val="0"/>
              </a:spcAft>
              <a:buNone/>
            </a:pPr>
            <a:r>
              <a:rPr b="1" lang="pt-BR" sz="1800">
                <a:solidFill>
                  <a:srgbClr val="0B1D3A"/>
                </a:solidFill>
                <a:latin typeface="Calibri"/>
                <a:ea typeface="Calibri"/>
                <a:cs typeface="Calibri"/>
                <a:sym typeface="Calibri"/>
              </a:rPr>
              <a:t>Objetivo Lógico:</a:t>
            </a:r>
            <a:r>
              <a:rPr lang="pt-BR" sz="1800">
                <a:solidFill>
                  <a:srgbClr val="212529"/>
                </a:solidFill>
                <a:latin typeface="Calibri"/>
                <a:ea typeface="Calibri"/>
                <a:cs typeface="Calibri"/>
                <a:sym typeface="Calibri"/>
              </a:rPr>
              <a:t> Escrever um algoritmo simples que analise os níveis de luz ambiente e acione a iluminação automaticamente quando o ambiente ficar escuro.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D3A"/>
        </a:solidFill>
      </p:bgPr>
    </p:bg>
    <p:spTree>
      <p:nvGrpSpPr>
        <p:cNvPr id="152" name="Shape 152"/>
        <p:cNvGrpSpPr/>
        <p:nvPr/>
      </p:nvGrpSpPr>
      <p:grpSpPr>
        <a:xfrm>
          <a:off x="0" y="0"/>
          <a:ext cx="0" cy="0"/>
          <a:chOff x="0" y="0"/>
          <a:chExt cx="0" cy="0"/>
        </a:xfrm>
      </p:grpSpPr>
      <p:sp>
        <p:nvSpPr>
          <p:cNvPr id="153" name="Google Shape;153;p12"/>
          <p:cNvSpPr txBox="1"/>
          <p:nvPr/>
        </p:nvSpPr>
        <p:spPr>
          <a:xfrm>
            <a:off x="731520" y="457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200">
                <a:solidFill>
                  <a:srgbClr val="FFFFFF"/>
                </a:solidFill>
                <a:latin typeface="Arial"/>
                <a:ea typeface="Arial"/>
                <a:cs typeface="Arial"/>
                <a:sym typeface="Arial"/>
              </a:rPr>
              <a:t>Conclusão e Próximos Passos</a:t>
            </a:r>
            <a:endParaRPr/>
          </a:p>
        </p:txBody>
      </p:sp>
      <p:sp>
        <p:nvSpPr>
          <p:cNvPr id="154" name="Google Shape;154;p12"/>
          <p:cNvSpPr txBox="1"/>
          <p:nvPr/>
        </p:nvSpPr>
        <p:spPr>
          <a:xfrm>
            <a:off x="731520" y="1828800"/>
            <a:ext cx="10698480" cy="411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pt-BR" sz="2000">
                <a:solidFill>
                  <a:srgbClr val="FFFFFF"/>
                </a:solidFill>
                <a:latin typeface="Calibri"/>
                <a:ea typeface="Calibri"/>
                <a:cs typeface="Calibri"/>
                <a:sym typeface="Calibri"/>
              </a:rPr>
              <a:t>A eletrônica atua como a ponte física vital que conecta a lógica abstrata dos softwares aos movimentos mecânicos do mundo real.</a:t>
            </a:r>
            <a:endParaRPr/>
          </a:p>
          <a:p>
            <a:pPr indent="0" lvl="0" marL="0" marR="0" rtl="0" algn="l">
              <a:spcBef>
                <a:spcPts val="2400"/>
              </a:spcBef>
              <a:spcAft>
                <a:spcPts val="0"/>
              </a:spcAft>
              <a:buNone/>
            </a:pPr>
            <a:r>
              <a:rPr lang="pt-BR" sz="1800">
                <a:solidFill>
                  <a:srgbClr val="DCE0E6"/>
                </a:solidFill>
                <a:latin typeface="Calibri"/>
                <a:ea typeface="Calibri"/>
                <a:cs typeface="Calibri"/>
                <a:sym typeface="Calibri"/>
              </a:rPr>
              <a:t>Dominar esses conceitos fundamentais de tensão, corrente, sensores e acionamento de potência serve como base para desenvolver projetos mais complexos em automação industrial, IoT (Internet das Coisas) e robótica móvel avançada.</a:t>
            </a:r>
            <a:endParaRPr/>
          </a:p>
          <a:p>
            <a:pPr indent="0" lvl="0" marL="0" marR="0" rtl="0" algn="l">
              <a:spcBef>
                <a:spcPts val="4000"/>
              </a:spcBef>
              <a:spcAft>
                <a:spcPts val="0"/>
              </a:spcAft>
              <a:buNone/>
            </a:pPr>
            <a:r>
              <a:rPr b="1" lang="pt-BR" sz="1800">
                <a:solidFill>
                  <a:srgbClr val="EB5E28"/>
                </a:solidFill>
                <a:latin typeface="Calibri"/>
                <a:ea typeface="Calibri"/>
                <a:cs typeface="Calibri"/>
                <a:sym typeface="Calibri"/>
              </a:rPr>
              <a:t>Aberto para dúvidas, perguntas e discussões.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