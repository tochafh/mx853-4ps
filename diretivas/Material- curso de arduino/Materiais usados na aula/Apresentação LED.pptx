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4"/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48b296f144c558d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48b296f144c558df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7040f4243fc4843_5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17040f4243fc4843_5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48b296f144c558d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48b296f144c558df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48b296f144c558d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h48b296f144c558df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17040f4243fc4843_5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17040f4243fc4843_5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17040f4243fc4843_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17040f4243fc4843_5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7040f4243fc4843_5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17040f4243fc4843_5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48b296f144c558d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48b296f144c558df_1_5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17040f4243fc4843_5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h17040f4243fc4843_5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7040f4243fc4843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17040f4243fc4843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48b296f144c558df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h48b296f144c558df_1_6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8b296f144c558df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48b296f144c558df_1_7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48b296f144c558df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h48b296f144c558df_1_6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17040f4243fc4843_3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h17040f4243fc4843_3_1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48b296f144c558df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48b296f144c558df_1_8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48b296f144c558df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h48b296f144c558df_1_8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17040f4243fc4843_29_0)">
  <p:cSld name="Generated (h17040f4243fc4843_29_0)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gif"/><Relationship Id="rId5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gif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548640" y="342900"/>
            <a:ext cx="7886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B1D3A"/>
                </a:solidFill>
              </a:rPr>
              <a:t>Aprendendo LEDS com Arduíno e TinkerCAD </a:t>
            </a:r>
            <a:endParaRPr sz="1100"/>
          </a:p>
        </p:txBody>
      </p:sp>
      <p:sp>
        <p:nvSpPr>
          <p:cNvPr id="206" name="Google Shape;206;p38"/>
          <p:cNvSpPr txBox="1"/>
          <p:nvPr/>
        </p:nvSpPr>
        <p:spPr>
          <a:xfrm>
            <a:off x="548640" y="1234440"/>
            <a:ext cx="802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07" name="Google Shape;20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250" y="1339875"/>
            <a:ext cx="2463750" cy="24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488" y="1339875"/>
            <a:ext cx="3109012" cy="24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50" y="1339879"/>
            <a:ext cx="2149424" cy="2463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38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11" name="Google Shape;211;p3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12" name="Google Shape;212;p3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38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 Bruno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5262"/>
            <a:ext cx="9143999" cy="349296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9"/>
          <p:cNvSpPr txBox="1"/>
          <p:nvPr/>
        </p:nvSpPr>
        <p:spPr>
          <a:xfrm>
            <a:off x="1879250" y="74125"/>
            <a:ext cx="52947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Recapitulação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39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21" name="Google Shape;22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22" name="Google Shape;222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39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/>
        </p:nvSpPr>
        <p:spPr>
          <a:xfrm>
            <a:off x="548640" y="342900"/>
            <a:ext cx="7886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B1D3A"/>
                </a:solidFill>
                <a:latin typeface="Arial"/>
                <a:ea typeface="Arial"/>
                <a:cs typeface="Arial"/>
                <a:sym typeface="Arial"/>
              </a:rPr>
              <a:t>O Cérebro Eletrônico: </a:t>
            </a:r>
            <a:r>
              <a:rPr b="1" lang="pt-BR" sz="2400">
                <a:solidFill>
                  <a:srgbClr val="0B1D3A"/>
                </a:solidFill>
              </a:rPr>
              <a:t>Arduíno</a:t>
            </a:r>
            <a:endParaRPr sz="1100"/>
          </a:p>
        </p:txBody>
      </p:sp>
      <p:sp>
        <p:nvSpPr>
          <p:cNvPr id="229" name="Google Shape;229;p40"/>
          <p:cNvSpPr txBox="1"/>
          <p:nvPr/>
        </p:nvSpPr>
        <p:spPr>
          <a:xfrm>
            <a:off x="480090" y="1274765"/>
            <a:ext cx="802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30" name="Google Shape;2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225" y="909028"/>
            <a:ext cx="7640582" cy="33254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40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32" name="Google Shape;23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33" name="Google Shape;233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40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1475"/>
            <a:ext cx="9144000" cy="328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1"/>
          <p:cNvSpPr txBox="1"/>
          <p:nvPr/>
        </p:nvSpPr>
        <p:spPr>
          <a:xfrm>
            <a:off x="642200" y="3206525"/>
            <a:ext cx="22602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 de um Diodo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1"/>
          <p:cNvSpPr txBox="1"/>
          <p:nvPr/>
        </p:nvSpPr>
        <p:spPr>
          <a:xfrm>
            <a:off x="0" y="3752225"/>
            <a:ext cx="9144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corrente elétrica tem sentido obrigatório no diodo. Se ligada invertida, o LED bloqueia a energia e não acende.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1"/>
          <p:cNvSpPr txBox="1"/>
          <p:nvPr/>
        </p:nvSpPr>
        <p:spPr>
          <a:xfrm>
            <a:off x="1554375" y="176300"/>
            <a:ext cx="5211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Diodo Emissor de Luz (LED)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" name="Google Shape;243;p41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44" name="Google Shape;24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45" name="Google Shape;245;p4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41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25" y="466875"/>
            <a:ext cx="8380349" cy="37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/>
          <p:nvPr/>
        </p:nvSpPr>
        <p:spPr>
          <a:xfrm>
            <a:off x="2204850" y="-133500"/>
            <a:ext cx="4734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" name="Google Shape;253;p42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54" name="Google Shape;25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55" name="Google Shape;255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42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283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43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63" name="Google Shape;26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64" name="Google Shape;264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43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/>
        </p:nvSpPr>
        <p:spPr>
          <a:xfrm>
            <a:off x="1327565" y="0"/>
            <a:ext cx="63981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Anatomia do Circuito Fechado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44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272" name="Google Shape;272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73" name="Google Shape;27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44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5" name="Google Shape;275;p44" title="imagem_poggers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770700"/>
            <a:ext cx="8839199" cy="329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5"/>
          <p:cNvSpPr txBox="1"/>
          <p:nvPr/>
        </p:nvSpPr>
        <p:spPr>
          <a:xfrm>
            <a:off x="548705" y="164925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Conhecendo o TinkerCAD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2" name="Google Shape;282;p45"/>
          <p:cNvSpPr txBox="1"/>
          <p:nvPr/>
        </p:nvSpPr>
        <p:spPr>
          <a:xfrm>
            <a:off x="548655" y="1234440"/>
            <a:ext cx="8046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83" name="Google Shape;2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75" y="592350"/>
            <a:ext cx="8243025" cy="3717625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grpSp>
        <p:nvGrpSpPr>
          <p:cNvPr id="284" name="Google Shape;284;p45"/>
          <p:cNvGrpSpPr/>
          <p:nvPr/>
        </p:nvGrpSpPr>
        <p:grpSpPr>
          <a:xfrm>
            <a:off x="548700" y="4294012"/>
            <a:ext cx="8504600" cy="849405"/>
            <a:chOff x="0" y="4239175"/>
            <a:chExt cx="9053225" cy="904200"/>
          </a:xfrm>
        </p:grpSpPr>
        <p:pic>
          <p:nvPicPr>
            <p:cNvPr id="285" name="Google Shape;285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86" name="Google Shape;286;p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45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875" lIns="85875" spcFirstLastPara="1" rIns="85875" wrap="square" tIns="85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5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/>
        </p:nvSpPr>
        <p:spPr>
          <a:xfrm>
            <a:off x="548640" y="342900"/>
            <a:ext cx="7886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B1D3A"/>
                </a:solidFill>
              </a:rPr>
              <a:t>Tradução da lógica computacional para elétrica</a:t>
            </a:r>
            <a:endParaRPr sz="1100"/>
          </a:p>
        </p:txBody>
      </p:sp>
      <p:sp>
        <p:nvSpPr>
          <p:cNvPr id="293" name="Google Shape;293;p46"/>
          <p:cNvSpPr txBox="1"/>
          <p:nvPr/>
        </p:nvSpPr>
        <p:spPr>
          <a:xfrm>
            <a:off x="548640" y="1234440"/>
            <a:ext cx="802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94" name="Google Shape;2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275" y="1016375"/>
            <a:ext cx="8023800" cy="336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46"/>
          <p:cNvGrpSpPr/>
          <p:nvPr/>
        </p:nvGrpSpPr>
        <p:grpSpPr>
          <a:xfrm>
            <a:off x="1029075" y="4341801"/>
            <a:ext cx="8023873" cy="801392"/>
            <a:chOff x="0" y="4239175"/>
            <a:chExt cx="9053225" cy="904200"/>
          </a:xfrm>
        </p:grpSpPr>
        <p:pic>
          <p:nvPicPr>
            <p:cNvPr id="296" name="Google Shape;29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297" name="Google Shape;297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46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25" lIns="81025" spcFirstLastPara="1" rIns="81025" wrap="square" tIns="8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27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/>
          <p:nvPr/>
        </p:nvSpPr>
        <p:spPr>
          <a:xfrm>
            <a:off x="41063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7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Funções Setup() e Loop()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05" name="Google Shape;3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75" y="846050"/>
            <a:ext cx="3901875" cy="2679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306" name="Google Shape;306;p47"/>
          <p:cNvSpPr txBox="1"/>
          <p:nvPr/>
        </p:nvSpPr>
        <p:spPr>
          <a:xfrm>
            <a:off x="305400" y="3745000"/>
            <a:ext cx="3901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 apenas UMA vez quando o arduíno liga. Função usada para preparar as portas!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47"/>
          <p:cNvPicPr preferRelativeResize="0"/>
          <p:nvPr/>
        </p:nvPicPr>
        <p:blipFill rotWithShape="1">
          <a:blip r:embed="rId4">
            <a:alphaModFix/>
          </a:blip>
          <a:srcRect b="2300" l="-1890" r="1890" t="-2300"/>
          <a:stretch/>
        </p:blipFill>
        <p:spPr>
          <a:xfrm>
            <a:off x="4431675" y="802950"/>
            <a:ext cx="4347850" cy="2679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308" name="Google Shape;308;p47"/>
          <p:cNvSpPr txBox="1"/>
          <p:nvPr/>
        </p:nvSpPr>
        <p:spPr>
          <a:xfrm>
            <a:off x="4549750" y="3745000"/>
            <a:ext cx="42297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Executado repetidamente. É aqui que colocamos a lógica de piscar do LED.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47"/>
          <p:cNvGrpSpPr/>
          <p:nvPr/>
        </p:nvGrpSpPr>
        <p:grpSpPr>
          <a:xfrm>
            <a:off x="2035750" y="4429460"/>
            <a:ext cx="7149332" cy="714047"/>
            <a:chOff x="0" y="4239175"/>
            <a:chExt cx="9053225" cy="904200"/>
          </a:xfrm>
        </p:grpSpPr>
        <p:pic>
          <p:nvPicPr>
            <p:cNvPr id="310" name="Google Shape;310;p4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11" name="Google Shape;311;p4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47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200" lIns="72200" spcFirstLastPara="1" rIns="72200" wrap="square" tIns="7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5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Entendendo o Código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19" name="Google Shape;319;p48"/>
          <p:cNvSpPr txBox="1"/>
          <p:nvPr/>
        </p:nvSpPr>
        <p:spPr>
          <a:xfrm>
            <a:off x="548655" y="1234440"/>
            <a:ext cx="8046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320" name="Google Shape;3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00" y="828350"/>
            <a:ext cx="8545951" cy="395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8"/>
          <p:cNvGrpSpPr/>
          <p:nvPr/>
        </p:nvGrpSpPr>
        <p:grpSpPr>
          <a:xfrm>
            <a:off x="953651" y="4334534"/>
            <a:ext cx="8099920" cy="808988"/>
            <a:chOff x="0" y="4239175"/>
            <a:chExt cx="9053225" cy="904200"/>
          </a:xfrm>
        </p:grpSpPr>
        <p:pic>
          <p:nvPicPr>
            <p:cNvPr id="322" name="Google Shape;32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23" name="Google Shape;323;p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48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800" lIns="81800" spcFirstLastPara="1" rIns="81800" wrap="square" tIns="81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7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9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Boas práticas na montagem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1" name="Google Shape;331;p49"/>
          <p:cNvSpPr txBox="1"/>
          <p:nvPr/>
        </p:nvSpPr>
        <p:spPr>
          <a:xfrm>
            <a:off x="548655" y="1234440"/>
            <a:ext cx="8046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32" name="Google Shape;332;p49"/>
          <p:cNvSpPr txBox="1"/>
          <p:nvPr/>
        </p:nvSpPr>
        <p:spPr>
          <a:xfrm>
            <a:off x="385675" y="1202325"/>
            <a:ext cx="8488200" cy="3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Fios coloridos de forma lógica(Vermelho para Energia positiva, Preto para GND/Terra).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Desenhar fios retos no TinkerCAD e organizados visualmente na placa de ensaio.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49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334" name="Google Shape;334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35" name="Google Shape;33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49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0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0979C"/>
                </a:solidFill>
              </a:rPr>
              <a:t>Projetando um LED para piscar</a:t>
            </a:r>
            <a:endParaRPr sz="1100"/>
          </a:p>
        </p:txBody>
      </p:sp>
      <p:sp>
        <p:nvSpPr>
          <p:cNvPr id="343" name="Google Shape;343;p50"/>
          <p:cNvSpPr txBox="1"/>
          <p:nvPr/>
        </p:nvSpPr>
        <p:spPr>
          <a:xfrm>
            <a:off x="548655" y="1234440"/>
            <a:ext cx="8046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75" y="1050400"/>
            <a:ext cx="8881676" cy="304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50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346" name="Google Shape;34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47" name="Google Shape;347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50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9" name="Google Shape;34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100" y="1604750"/>
            <a:ext cx="4237901" cy="204105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1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Programação e Simulação Virtual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56" name="Google Shape;356;p51"/>
          <p:cNvSpPr txBox="1"/>
          <p:nvPr/>
        </p:nvSpPr>
        <p:spPr>
          <a:xfrm>
            <a:off x="548655" y="1234440"/>
            <a:ext cx="8046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Painel de Código:</a:t>
            </a:r>
            <a:r>
              <a:rPr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 Clique em 'Código' na barra superior para expandir o painel. Oferece as modalidades de desenvolvimento em Blocos, Blocos+Texto ou Texto puro.</a:t>
            </a:r>
            <a:endParaRPr sz="1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Programação C++:</a:t>
            </a:r>
            <a:r>
              <a:rPr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 O modo Texto disponibiliza um editor de texto idêntico ao ambiente oficial da IDE nativa do Arduino.</a:t>
            </a:r>
            <a:endParaRPr sz="1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Execução Ativa:</a:t>
            </a:r>
            <a:r>
              <a:rPr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 Pressione o botão verde 'Iniciar Simulação' para ligar o circuito virtual e testar o código em tempo real.</a:t>
            </a:r>
            <a:endParaRPr sz="1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Interação Dinâmica:</a:t>
            </a:r>
            <a:r>
              <a:rPr lang="pt-BR" sz="1700">
                <a:solidFill>
                  <a:srgbClr val="2B3034"/>
                </a:solidFill>
                <a:latin typeface="Arial"/>
                <a:ea typeface="Arial"/>
                <a:cs typeface="Arial"/>
                <a:sym typeface="Arial"/>
              </a:rPr>
              <a:t> Durante a simulação, clique sobre sensores (ex: ultrassônico) e movimente os controles virtuais para simular o mundo físico.</a:t>
            </a:r>
            <a:endParaRPr sz="1600"/>
          </a:p>
        </p:txBody>
      </p:sp>
      <p:grpSp>
        <p:nvGrpSpPr>
          <p:cNvPr id="357" name="Google Shape;357;p51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358" name="Google Shape;358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59" name="Google Shape;359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51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2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Exercícios prático 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67" name="Google Shape;367;p52"/>
          <p:cNvSpPr txBox="1"/>
          <p:nvPr/>
        </p:nvSpPr>
        <p:spPr>
          <a:xfrm>
            <a:off x="548655" y="1234440"/>
            <a:ext cx="8046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68" name="Google Shape;368;p52"/>
          <p:cNvSpPr txBox="1"/>
          <p:nvPr/>
        </p:nvSpPr>
        <p:spPr>
          <a:xfrm>
            <a:off x="292000" y="1127375"/>
            <a:ext cx="86568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Monte o circuito físico no TinkerCAD.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Conecte o resistor e o LED em uma porta de sua escolha.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uma variável para fazer o LED piscar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52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370" name="Google Shape;370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71" name="Google Shape;371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52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3"/>
          <p:cNvSpPr txBox="1"/>
          <p:nvPr/>
        </p:nvSpPr>
        <p:spPr>
          <a:xfrm>
            <a:off x="548655" y="342900"/>
            <a:ext cx="80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Projeto</a:t>
            </a:r>
            <a:r>
              <a:rPr b="1" lang="pt-BR" sz="2400">
                <a:solidFill>
                  <a:schemeClr val="dk1"/>
                </a:solidFill>
              </a:rPr>
              <a:t> do </a:t>
            </a:r>
            <a:r>
              <a:rPr b="1" lang="pt-BR" sz="2400">
                <a:solidFill>
                  <a:schemeClr val="dk1"/>
                </a:solidFill>
              </a:rPr>
              <a:t>Semáforo</a:t>
            </a:r>
            <a:r>
              <a:rPr b="1" lang="pt-BR" sz="2400">
                <a:solidFill>
                  <a:schemeClr val="dk1"/>
                </a:solidFill>
              </a:rPr>
              <a:t> (Difícil)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9" name="Google Shape;379;p53"/>
          <p:cNvSpPr txBox="1"/>
          <p:nvPr/>
        </p:nvSpPr>
        <p:spPr>
          <a:xfrm>
            <a:off x="548655" y="1234440"/>
            <a:ext cx="8046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0" name="Google Shape;380;p53"/>
          <p:cNvSpPr txBox="1"/>
          <p:nvPr/>
        </p:nvSpPr>
        <p:spPr>
          <a:xfrm>
            <a:off x="292000" y="1127375"/>
            <a:ext cx="86568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um semáfaro de trânsito!!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LED verde, 1 LED amarelo e um LED vermelho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resistores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: Programar um semáfaro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p53"/>
          <p:cNvGrpSpPr/>
          <p:nvPr/>
        </p:nvGrpSpPr>
        <p:grpSpPr>
          <a:xfrm>
            <a:off x="0" y="4239175"/>
            <a:ext cx="9053225" cy="904200"/>
            <a:chOff x="0" y="4239175"/>
            <a:chExt cx="9053225" cy="904200"/>
          </a:xfrm>
        </p:grpSpPr>
        <p:pic>
          <p:nvPicPr>
            <p:cNvPr id="382" name="Google Shape;382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8775" y="4361998"/>
              <a:ext cx="1190825" cy="64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ma imagem contendo texto, flor, frisbee, computer&#10;&#10;Descrição gerada automaticamente" id="383" name="Google Shape;383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22600" y="4292110"/>
              <a:ext cx="730625" cy="779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53"/>
            <p:cNvSpPr txBox="1"/>
            <p:nvPr/>
          </p:nvSpPr>
          <p:spPr>
            <a:xfrm>
              <a:off x="0" y="4239175"/>
              <a:ext cx="69489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highlight>
                  <a:schemeClr val="accent2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