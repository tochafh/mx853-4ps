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600" b="1">
                <a:solidFill>
                  <a:srgbClr val="00979C"/>
                </a:solidFill>
                <a:latin typeface="Arial"/>
              </a:defRPr>
            </a:pPr>
            <a:r>
              <a:t>Arduino &amp; Tinkercad Circuits</a:t>
            </a:r>
          </a:p>
          <a:p>
            <a:pPr>
              <a:defRPr sz="2000">
                <a:solidFill>
                  <a:srgbClr val="F8F9FA"/>
                </a:solidFill>
                <a:latin typeface="Arial"/>
              </a:defRPr>
            </a:pPr>
            <a:r>
              <a:t>Guia Integrado de Aprendizagem Maker: História, Hardware, Simulação e Exercícios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C757D"/>
                </a:solidFill>
                <a:latin typeface="Arial"/>
              </a:defRPr>
            </a:pPr>
            <a:r>
              <a:t>MÓDULO 1</a:t>
            </a:r>
          </a:p>
          <a:p>
            <a:pPr>
              <a:defRPr sz="3800" b="1">
                <a:solidFill>
                  <a:srgbClr val="F8F9FA"/>
                </a:solidFill>
                <a:latin typeface="Arial"/>
              </a:defRPr>
            </a:pPr>
            <a:r>
              <a:t>O Ecossistema Físico do Arduino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979C"/>
                </a:solidFill>
                <a:latin typeface="Arial"/>
              </a:defRPr>
            </a:pPr>
            <a:r>
              <a:t>A Origem no Instituto Ivrea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Nascimento em 2005:</a:t>
            </a:r>
            <a:r>
              <a:rPr sz="1600">
                <a:solidFill>
                  <a:srgbClr val="2B3034"/>
                </a:solidFill>
                <a:latin typeface="Arial"/>
              </a:rPr>
              <a:t> Criado na Itália como um projeto de código aberto voltado para estudantes de design e interação.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O Problema da Época:</a:t>
            </a:r>
            <a:r>
              <a:rPr sz="1600">
                <a:solidFill>
                  <a:srgbClr val="2B3034"/>
                </a:solidFill>
                <a:latin typeface="Arial"/>
              </a:rPr>
              <a:t> As ferramentas de eletrônica eram muito caras (cerca de 100 dólares) e complexas para quem não era engenheiro.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A Solução Maker:</a:t>
            </a:r>
            <a:r>
              <a:rPr sz="1600">
                <a:solidFill>
                  <a:srgbClr val="2B3034"/>
                </a:solidFill>
                <a:latin typeface="Arial"/>
              </a:rPr>
              <a:t> O professor Massimo Banzi e o programador David Cuartielles criaram uma alternativa barata e acessível.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Origem do Nome:</a:t>
            </a:r>
            <a:r>
              <a:rPr sz="1600">
                <a:solidFill>
                  <a:srgbClr val="2B3034"/>
                </a:solidFill>
                <a:latin typeface="Arial"/>
              </a:rPr>
              <a:t> 'Arduino' veio de um bar local onde o grupo se reunia, batizado em homenagem a um rei histórico italiano.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979C"/>
                </a:solidFill>
                <a:latin typeface="Arial"/>
              </a:defRPr>
            </a:pPr>
            <a:r>
              <a:t>O Conceito de Código Aberto (Open-Source)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0979C"/>
                </a:solidFill>
                <a:latin typeface="Arial"/>
              </a:defRPr>
            </a:pPr>
            <a:r>
              <a:t>Hardware Livre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3034"/>
                </a:solidFill>
                <a:latin typeface="Arial"/>
              </a:rPr>
              <a:t>• Acesso Total: Esquemas elétricos e designs de placa públicos.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3034"/>
                </a:solidFill>
                <a:latin typeface="Arial"/>
              </a:rPr>
              <a:t>• Fabricação Legal: Qualquer pessoa ou empresa pode produzir e comercializar.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3034"/>
                </a:solidFill>
                <a:latin typeface="Arial"/>
              </a:rPr>
              <a:t>• Ecossistema de Clones: Motivo de existirem tantas placas compatíveis de baixo custo no mercado.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9535" y="1645920"/>
            <a:ext cx="51206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0979C"/>
                </a:solidFill>
                <a:latin typeface="Arial"/>
              </a:defRPr>
            </a:pPr>
            <a:r>
              <a:t>Software Livre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3034"/>
                </a:solidFill>
                <a:latin typeface="Arial"/>
              </a:rPr>
              <a:t>• Arduino IDE: Ambiente de desenvolvimento oficial e 100% gratuito.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3034"/>
                </a:solidFill>
                <a:latin typeface="Arial"/>
              </a:rPr>
              <a:t>• Multiplataforma: Roda perfeitamente em Windows, macOS e Linux.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3034"/>
                </a:solidFill>
                <a:latin typeface="Arial"/>
              </a:rPr>
              <a:t>• Comunidade Ativa: Milhares de bibliotecas prontas compartilhadas globalmente.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979C"/>
                </a:solidFill>
                <a:latin typeface="Arial"/>
              </a:defRPr>
            </a:pPr>
            <a:r>
              <a:t>Linha do Tempo e Evolução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38328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79C"/>
                </a:solidFill>
                <a:latin typeface="Arial"/>
              </a:defRPr>
            </a:pPr>
            <a:r>
              <a:t>2005</a:t>
            </a:r>
          </a:p>
          <a:p>
            <a:pPr>
              <a:spcAft>
                <a:spcPts val="1000"/>
              </a:spcAft>
              <a:defRPr sz="1600" b="1">
                <a:solidFill>
                  <a:srgbClr val="2B3034"/>
                </a:solidFill>
                <a:latin typeface="Arial"/>
              </a:defRPr>
            </a:pPr>
            <a:r>
              <a:t>O Começo</a:t>
            </a:r>
          </a:p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Primeira placa criada com microcontrolador simples (ATmega8). Custo drasticamente menor que os concorrentes.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2011680"/>
            <a:ext cx="338328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79C"/>
                </a:solidFill>
                <a:latin typeface="Arial"/>
              </a:defRPr>
            </a:pPr>
            <a:r>
              <a:t>2010</a:t>
            </a:r>
          </a:p>
          <a:p>
            <a:pPr>
              <a:spcAft>
                <a:spcPts val="1000"/>
              </a:spcAft>
              <a:defRPr sz="1600" b="1">
                <a:solidFill>
                  <a:srgbClr val="2B3034"/>
                </a:solidFill>
                <a:latin typeface="Arial"/>
              </a:defRPr>
            </a:pPr>
            <a:r>
              <a:t>O Padrão Ouro</a:t>
            </a:r>
          </a:p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Lançamento do Arduino Uno R3, tornando-se o modelo mais icônico em escolas, universidades e robótica.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38328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79C"/>
                </a:solidFill>
                <a:latin typeface="Arial"/>
              </a:defRPr>
            </a:pPr>
            <a:r>
              <a:t>Atualmente</a:t>
            </a:r>
          </a:p>
          <a:p>
            <a:pPr>
              <a:spcAft>
                <a:spcPts val="1000"/>
              </a:spcAft>
              <a:defRPr sz="1600" b="1">
                <a:solidFill>
                  <a:srgbClr val="2B3034"/>
                </a:solidFill>
                <a:latin typeface="Arial"/>
              </a:defRPr>
            </a:pPr>
            <a:r>
              <a:t>Internet das Coisas</a:t>
            </a:r>
          </a:p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Expansão para placas com Wi-Fi e Bluetooth nativos (família Nano e Pro), focando em IoT e automação industrial.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979C"/>
                </a:solidFill>
                <a:latin typeface="Arial"/>
              </a:defRPr>
            </a:pPr>
            <a:r>
              <a:t>Como o Arduino Funciona na Prática?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3832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979C"/>
                </a:solidFill>
                <a:latin typeface="Arial"/>
              </a:defRPr>
            </a:pPr>
            <a:r>
              <a:t>1. Entrada (Inputs)</a:t>
            </a:r>
          </a:p>
          <a:p>
            <a:pPr>
              <a:defRPr sz="1400">
                <a:solidFill>
                  <a:srgbClr val="2B3034"/>
                </a:solidFill>
                <a:latin typeface="Arial"/>
              </a:defRPr>
            </a:pPr>
            <a:r>
              <a:t>Recebe sinais do ambiente por meio de componentes como botões, sensores de luz (LDR), sensores de distância ou comandos de aplicativos móveis.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2011680"/>
            <a:ext cx="3383280" cy="384048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979C"/>
                </a:solidFill>
                <a:latin typeface="Arial"/>
              </a:defRPr>
            </a:pPr>
            <a:r>
              <a:t>2. Processamento</a:t>
            </a:r>
          </a:p>
          <a:p>
            <a:pPr>
              <a:defRPr sz="1400">
                <a:solidFill>
                  <a:srgbClr val="F8F9FA"/>
                </a:solidFill>
                <a:latin typeface="Arial"/>
              </a:defRPr>
            </a:pPr>
            <a:r>
              <a:t>O microcontrolador executa linha por linha o código gravado em sua memória (Ex: 'Se o sensor de presença detectar movimento, ligue a luz').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3832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979C"/>
                </a:solidFill>
                <a:latin typeface="Arial"/>
              </a:defRPr>
            </a:pPr>
            <a:r>
              <a:t>3. Saída (Outputs)</a:t>
            </a:r>
          </a:p>
          <a:p>
            <a:pPr>
              <a:defRPr sz="1400">
                <a:solidFill>
                  <a:srgbClr val="2B3034"/>
                </a:solidFill>
                <a:latin typeface="Arial"/>
              </a:defRPr>
            </a:pPr>
            <a:r>
              <a:t>Envia corrente elétrica para ativar atuadores e componentes de resposta, como LEDs, telas LCD, caixas de som (buzzers) ou servomotores.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979C"/>
                </a:solidFill>
                <a:latin typeface="Arial"/>
              </a:defRPr>
            </a:pPr>
            <a:r>
              <a:t>Principais Áreas de Aplicação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Automação &amp; IoT:</a:t>
            </a:r>
            <a:r>
              <a:rPr sz="1600">
                <a:solidFill>
                  <a:srgbClr val="2B3034"/>
                </a:solidFill>
                <a:latin typeface="Arial"/>
              </a:rPr>
              <a:t> Controle residencial por voz, gerenciamento de alarmes de incêndio e criação de estações meteorológicas em nuvem.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Robótica e Drones:</a:t>
            </a:r>
            <a:r>
              <a:rPr sz="1600">
                <a:solidFill>
                  <a:srgbClr val="2B3034"/>
                </a:solidFill>
                <a:latin typeface="Arial"/>
              </a:rPr>
              <a:t> Gerenciamento de garras de braços robóticos, veículos autônomos seguidores de linha e velocidade de motores.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Educação Maker:</a:t>
            </a:r>
            <a:r>
              <a:rPr sz="1600">
                <a:solidFill>
                  <a:srgbClr val="2B3034"/>
                </a:solidFill>
                <a:latin typeface="Arial"/>
              </a:rPr>
              <a:t> Introdução prática à lógica de programação estruturada e eletrônica básica para crianças, hobbistas e artistas.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Instalações Interativas:</a:t>
            </a:r>
            <a:r>
              <a:rPr sz="1600">
                <a:solidFill>
                  <a:srgbClr val="2B3034"/>
                </a:solidFill>
                <a:latin typeface="Arial"/>
              </a:rPr>
              <a:t> Obras de arte urbanas e esculturas eletrônicas que reagem dinamicamente ao toque ou som ambiente.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979C"/>
                </a:solidFill>
                <a:latin typeface="Arial"/>
              </a:defRPr>
            </a:pPr>
            <a:r>
              <a:t>Componentes do Kit — Tabela Prática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876495"/>
                <a:gridCol w="3840480"/>
              </a:tblGrid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9FA"/>
                          </a:solidFill>
                          <a:latin typeface="Arial"/>
                        </a:defRPr>
                      </a:pPr>
                      <a:r>
                        <a:t>Componente</a:t>
                      </a:r>
                    </a:p>
                  </a:txBody>
                  <a:tcPr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9FA"/>
                          </a:solidFill>
                          <a:latin typeface="Arial"/>
                        </a:defRPr>
                      </a:pPr>
                      <a:r>
                        <a:t>Funcionalidade Primária</a:t>
                      </a:r>
                    </a:p>
                  </a:txBody>
                  <a:tcPr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9FA"/>
                          </a:solidFill>
                          <a:latin typeface="Arial"/>
                        </a:defRPr>
                      </a:pPr>
                      <a:r>
                        <a:t>Exemplo de Aplicação</a:t>
                      </a:r>
                    </a:p>
                  </a:txBody>
                  <a:tcPr>
                    <a:solidFill>
                      <a:srgbClr val="21252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Arduino UNO 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O 'cérebro' do projeto. Executa códigos e controla entradas e saídas digitais/analógicas.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Robôs, semáforos, alarmes.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Cabo USB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Conecta a placa ao computador para gravação do código e fornecimento de energia inicial.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Programação e testes.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Protoboard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Matriz de contatos que permite a montagem rápida de circuitos eletrônicos sem necessidade de solda.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Prototipagem ágil.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Fios Jumpers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Condutores com pontas rígidas (macho-macho) ideais para interconectar componentes na matriz.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Conexão geral de circuitos.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979C"/>
                </a:solidFill>
                <a:latin typeface="Arial"/>
              </a:defRPr>
            </a:pPr>
            <a:r>
              <a:t>Componentes do Kit — Tabela Prática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876495"/>
                <a:gridCol w="384048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9FA"/>
                          </a:solidFill>
                          <a:latin typeface="Arial"/>
                        </a:defRPr>
                      </a:pPr>
                      <a:r>
                        <a:t>Componente</a:t>
                      </a:r>
                    </a:p>
                  </a:txBody>
                  <a:tcPr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9FA"/>
                          </a:solidFill>
                          <a:latin typeface="Arial"/>
                        </a:defRPr>
                      </a:pPr>
                      <a:r>
                        <a:t>Funcionalidade Primária</a:t>
                      </a:r>
                    </a:p>
                  </a:txBody>
                  <a:tcPr>
                    <a:solidFill>
                      <a:srgbClr val="2125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9FA"/>
                          </a:solidFill>
                          <a:latin typeface="Arial"/>
                        </a:defRPr>
                      </a:pPr>
                      <a:r>
                        <a:t>Exemplo de Aplicação</a:t>
                      </a:r>
                    </a:p>
                  </a:txBody>
                  <a:tcPr>
                    <a:solidFill>
                      <a:srgbClr val="21252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Sensor HC-SR04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Mede distâncias de objetos emitindo ondas sonoras ultrassônicas (eco).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Sensor de ré, radares.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Microservo SG90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Motor de alta precisão angular regulável rígida entre 0° e 180°.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Braços robóticos, cancelas.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Buzzer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Componente piezoelétrico que gera bipes sonoros a partir de sinal elétrico.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Alarmes e indicadores.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LEDs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Diodos emissores de luz usados para sinalização visual de estados do sistema.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Painéis, semáforos visuais.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Resistores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Componentes que limitam a corrente elétrica para proteger outros itens de sobrecarga.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3034"/>
                          </a:solidFill>
                          <a:latin typeface="Arial"/>
                        </a:defRPr>
                      </a:pPr>
                      <a:r>
                        <a:t>Proteção obrigatória de LEDs.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979C"/>
                </a:solidFill>
                <a:latin typeface="Arial"/>
              </a:defRPr>
            </a:pPr>
            <a:r>
              <a:t>Cuidados Elétricos Fundamentais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Lógica de 5 Voltas:</a:t>
            </a:r>
            <a:r>
              <a:rPr sz="1600">
                <a:solidFill>
                  <a:srgbClr val="2B3034"/>
                </a:solidFill>
                <a:latin typeface="Arial"/>
              </a:rPr>
              <a:t> O Arduino UNO opera rigidamente sob nível lógico de 5V. Tensões maiores aplicadas nas portas danificam o microcontrolador.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Limitação de Corrente:</a:t>
            </a:r>
            <a:r>
              <a:rPr sz="1600">
                <a:solidFill>
                  <a:srgbClr val="2B3034"/>
                </a:solidFill>
                <a:latin typeface="Arial"/>
              </a:rPr>
              <a:t> Os pinos de E/S suportam correntes baixas (máximo absoluto de 40mA por pino, ideal trabalhar abaixo de 20mA).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Motores e Cargas Pesadas:</a:t>
            </a:r>
            <a:r>
              <a:rPr sz="1600">
                <a:solidFill>
                  <a:srgbClr val="2B3034"/>
                </a:solidFill>
                <a:latin typeface="Arial"/>
              </a:rPr>
              <a:t> Componentes de alta potência (motores grandes, relés) nunca devem ser alimentados diretamente pelas portas da placa.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Uso de Drivers:</a:t>
            </a:r>
            <a:r>
              <a:rPr sz="1600">
                <a:solidFill>
                  <a:srgbClr val="2B3034"/>
                </a:solidFill>
                <a:latin typeface="Arial"/>
              </a:rPr>
              <a:t> Sempre utilize transistores, drivers dedicados (como a ponte H) ou relés com fontes externas para alimentar atuadores pesados.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C757D"/>
                </a:solidFill>
                <a:latin typeface="Arial"/>
              </a:defRPr>
            </a:pPr>
            <a:r>
              <a:t>MÓDULO 2</a:t>
            </a:r>
          </a:p>
          <a:p>
            <a:pPr>
              <a:defRPr sz="3800" b="1">
                <a:solidFill>
                  <a:srgbClr val="F8F9FA"/>
                </a:solidFill>
                <a:latin typeface="Arial"/>
              </a:defRPr>
            </a:pPr>
            <a:r>
              <a:t>Manual de Uso do Tinkercad Circuits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979C"/>
                </a:solidFill>
                <a:latin typeface="Arial"/>
              </a:defRPr>
            </a:pPr>
            <a:r>
              <a:t>Primeiro Acesso e Configuração de Conta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Acesso Inicial:</a:t>
            </a:r>
            <a:r>
              <a:rPr sz="1600">
                <a:solidFill>
                  <a:srgbClr val="2B3034"/>
                </a:solidFill>
                <a:latin typeface="Arial"/>
              </a:rPr>
              <a:t> Navegue até o site oficial da plataforma Autodesk Tinkercad em seu navegador.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Inscrição Rápida:</a:t>
            </a:r>
            <a:r>
              <a:rPr sz="1600">
                <a:solidFill>
                  <a:srgbClr val="2B3034"/>
                </a:solidFill>
                <a:latin typeface="Arial"/>
              </a:rPr>
              <a:t> Clique no botão 'Inscrever-se' posicionado no canto superior direito da interface.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Escolha do Perfil:</a:t>
            </a:r>
            <a:r>
              <a:rPr sz="1600">
                <a:solidFill>
                  <a:srgbClr val="2B3034"/>
                </a:solidFill>
                <a:latin typeface="Arial"/>
              </a:rPr>
              <a:t> Escolha entre Conta Pessoal (hobbistas), Educador (gerenciamento de turmas) ou Aluno (via código de acesso).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Autenticação Simplificada:</a:t>
            </a:r>
            <a:r>
              <a:rPr sz="1600">
                <a:solidFill>
                  <a:srgbClr val="2B3034"/>
                </a:solidFill>
                <a:latin typeface="Arial"/>
              </a:rPr>
              <a:t> Preencha o formulário eletrônico padrão ou faça o login rápido utilizando contas integradas Google, Apple ou Microsoft.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979C"/>
                </a:solidFill>
                <a:latin typeface="Arial"/>
              </a:defRPr>
            </a:pPr>
            <a:r>
              <a:t>Interface Geral e Workspace Virtual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Iniciando Designs:</a:t>
            </a:r>
            <a:r>
              <a:rPr sz="1600">
                <a:solidFill>
                  <a:srgbClr val="2B3034"/>
                </a:solidFill>
                <a:latin typeface="Arial"/>
              </a:rPr>
              <a:t> No painel lateral esquerdo, clique no botão '+ Novo' e selecione a ferramenta especialista 'Circuito'.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Área Central de Desenho:</a:t>
            </a:r>
            <a:r>
              <a:rPr sz="1600">
                <a:solidFill>
                  <a:srgbClr val="2B3034"/>
                </a:solidFill>
                <a:latin typeface="Arial"/>
              </a:rPr>
              <a:t> Tela quadriculada de trabalho livre onde se arrasta, posiciona e conecta os componentes virtuais.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Barra Superior de Ferramentas:</a:t>
            </a:r>
            <a:r>
              <a:rPr sz="1600">
                <a:solidFill>
                  <a:srgbClr val="2B3034"/>
                </a:solidFill>
                <a:latin typeface="Arial"/>
              </a:rPr>
              <a:t> Contém funções rápidas para rotacionar componentes, deletar itens, codificar e disparar a simulação ativa.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Biblioteca Lateral Direita:</a:t>
            </a:r>
            <a:r>
              <a:rPr sz="1600">
                <a:solidFill>
                  <a:srgbClr val="2B3034"/>
                </a:solidFill>
                <a:latin typeface="Arial"/>
              </a:rPr>
              <a:t> Menu retrátil contendo todos os componentes eletrônicos simulados disponíveis organizados em categorias.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Salvamento Automático:</a:t>
            </a:r>
            <a:r>
              <a:rPr sz="1600">
                <a:solidFill>
                  <a:srgbClr val="2B3034"/>
                </a:solidFill>
                <a:latin typeface="Arial"/>
              </a:rPr>
              <a:t> Todas as conexões de fios ou linhas de programação criadas são arquivadas na nuvem em tempo real.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979C"/>
                </a:solidFill>
                <a:latin typeface="Arial"/>
              </a:defRPr>
            </a:pPr>
            <a:r>
              <a:t>Guia de Montagem e Conexão de Componentes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Posicionamento:</a:t>
            </a:r>
            <a:r>
              <a:rPr sz="1600">
                <a:solidFill>
                  <a:srgbClr val="2B3034"/>
                </a:solidFill>
                <a:latin typeface="Arial"/>
              </a:rPr>
              <a:t> Clique sobre o componente eletrônico desejado na lista lateral e posicione-o com um clique na malha quadriculada.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Ajuste de Atributos:</a:t>
            </a:r>
            <a:r>
              <a:rPr sz="1600">
                <a:solidFill>
                  <a:srgbClr val="2B3034"/>
                </a:solidFill>
                <a:latin typeface="Arial"/>
              </a:rPr>
              <a:t> Ao selecionar qualquer item, utilize o menu flutuante para alterar parâmetros internos (ex: resistência em Ohms, cor do LED).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Instalação de Fios:</a:t>
            </a:r>
            <a:r>
              <a:rPr sz="1600">
                <a:solidFill>
                  <a:srgbClr val="2B3034"/>
                </a:solidFill>
                <a:latin typeface="Arial"/>
              </a:rPr>
              <a:t> Clique no terminal de um componente, mova o cursor e clique no terminal alvo. Cliques em espaços vazios dobram o fio.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Padronização Internacional:</a:t>
            </a:r>
            <a:r>
              <a:rPr sz="1600">
                <a:solidFill>
                  <a:srgbClr val="2B3034"/>
                </a:solidFill>
                <a:latin typeface="Arial"/>
              </a:rPr>
              <a:t> Altere as cores dos condutores para manter a organização. Use estritamente Vermelho para Alimentação (+5V) e Preto para Terra (GND).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979C"/>
                </a:solidFill>
                <a:latin typeface="Arial"/>
              </a:defRPr>
            </a:pPr>
            <a:r>
              <a:t>Programação e Simulação Virtual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Painel de Código:</a:t>
            </a:r>
            <a:r>
              <a:rPr sz="1600">
                <a:solidFill>
                  <a:srgbClr val="2B3034"/>
                </a:solidFill>
                <a:latin typeface="Arial"/>
              </a:rPr>
              <a:t> Clique em 'Código' na barra superior para expandir o painel. Oferece as modalidades de desenvolvimento em Blocos, Blocos+Texto ou Texto puro.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Programação C++:</a:t>
            </a:r>
            <a:r>
              <a:rPr sz="1600">
                <a:solidFill>
                  <a:srgbClr val="2B3034"/>
                </a:solidFill>
                <a:latin typeface="Arial"/>
              </a:rPr>
              <a:t> O modo Texto disponibiliza um editor de texto idêntico ao ambiente oficial da IDE nativa do Arduino.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Execução Ativa:</a:t>
            </a:r>
            <a:r>
              <a:rPr sz="1600">
                <a:solidFill>
                  <a:srgbClr val="2B3034"/>
                </a:solidFill>
                <a:latin typeface="Arial"/>
              </a:rPr>
              <a:t> Pressione o botão verde 'Iniciar Simulação' para ligar o circuito virtual e testar o código em tempo real.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B3034"/>
                </a:solidFill>
                <a:latin typeface="Arial"/>
              </a:rPr>
              <a:t>Interação Dinâmica:</a:t>
            </a:r>
            <a:r>
              <a:rPr sz="1600">
                <a:solidFill>
                  <a:srgbClr val="2B3034"/>
                </a:solidFill>
                <a:latin typeface="Arial"/>
              </a:rPr>
              <a:t> Durante a simulação, clique sobre sensores (ex: ultrassônico) e movimente os controles virtuais para simular o mundo físico.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C757D"/>
                </a:solidFill>
                <a:latin typeface="Arial"/>
              </a:defRPr>
            </a:pPr>
            <a:r>
              <a:t>MÓDULO 3</a:t>
            </a:r>
          </a:p>
          <a:p>
            <a:pPr>
              <a:defRPr sz="3800" b="1">
                <a:solidFill>
                  <a:srgbClr val="F8F9FA"/>
                </a:solidFill>
                <a:latin typeface="Arial"/>
              </a:defRPr>
            </a:pPr>
            <a:r>
              <a:t>Quiz de Fixação de Conhecimentos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979C"/>
                </a:solidFill>
                <a:latin typeface="Arial"/>
              </a:defRPr>
            </a:pPr>
            <a:r>
              <a:t>Exercícios de Fixação — Bloco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B3034"/>
                </a:solidFill>
                <a:latin typeface="Arial"/>
              </a:defRPr>
            </a:pPr>
            <a:r>
              <a:t>Questão 1: Em que país e em qual ano o projeto do Arduino nasceu oficialmente?</a:t>
            </a:r>
          </a:p>
          <a:p>
            <a:pPr>
              <a:spcAft>
                <a:spcPts val="400"/>
              </a:spcAft>
              <a:defRPr sz="1200">
                <a:solidFill>
                  <a:srgbClr val="2B3034"/>
                </a:solidFill>
                <a:latin typeface="Arial"/>
              </a:defRPr>
            </a:pPr>
            <a:r>
              <a:t>a) Estados Unidos, em 2012.</a:t>
            </a:r>
          </a:p>
          <a:p>
            <a:pPr>
              <a:spcAft>
                <a:spcPts val="400"/>
              </a:spcAft>
              <a:defRPr sz="1200" b="1">
                <a:solidFill>
                  <a:srgbClr val="00979C"/>
                </a:solidFill>
                <a:latin typeface="Arial"/>
              </a:defRPr>
            </a:pPr>
            <a:r>
              <a:t>b) Itália, em 2005. [CORRETA]</a:t>
            </a:r>
          </a:p>
          <a:p>
            <a:pPr>
              <a:spcAft>
                <a:spcPts val="400"/>
              </a:spcAft>
              <a:defRPr sz="1200">
                <a:solidFill>
                  <a:srgbClr val="2B3034"/>
                </a:solidFill>
                <a:latin typeface="Arial"/>
              </a:defRPr>
            </a:pPr>
            <a:r>
              <a:t>c) Japão, em 1998.</a:t>
            </a:r>
          </a:p>
          <a:p>
            <a:pPr>
              <a:spcAft>
                <a:spcPts val="400"/>
              </a:spcAft>
              <a:defRPr sz="1200">
                <a:solidFill>
                  <a:srgbClr val="2B3034"/>
                </a:solidFill>
                <a:latin typeface="Arial"/>
              </a:defRPr>
            </a:pPr>
            <a:r>
              <a:t>d) Alemanha, em 2015.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9535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B3034"/>
                </a:solidFill>
                <a:latin typeface="Arial"/>
              </a:defRPr>
            </a:pPr>
            <a:r>
              <a:t>Questão 2: O que significa o conceito de 'Hardware Livre' adotado pelo Arduino?</a:t>
            </a:r>
          </a:p>
          <a:p>
            <a:pPr>
              <a:spcAft>
                <a:spcPts val="400"/>
              </a:spcAft>
              <a:defRPr sz="1200">
                <a:solidFill>
                  <a:srgbClr val="2B3034"/>
                </a:solidFill>
                <a:latin typeface="Arial"/>
              </a:defRPr>
            </a:pPr>
            <a:r>
              <a:t>a) A placa física é distribuída de graça para qualquer escola.</a:t>
            </a:r>
          </a:p>
          <a:p>
            <a:pPr>
              <a:spcAft>
                <a:spcPts val="400"/>
              </a:spcAft>
              <a:defRPr sz="1200" b="1">
                <a:solidFill>
                  <a:srgbClr val="00979C"/>
                </a:solidFill>
                <a:latin typeface="Arial"/>
              </a:defRPr>
            </a:pPr>
            <a:r>
              <a:t>b) Qualquer um pode baixar esquemas elétricos e fabricar de forma legal. [CORRETA]</a:t>
            </a:r>
          </a:p>
          <a:p>
            <a:pPr>
              <a:spcAft>
                <a:spcPts val="400"/>
              </a:spcAft>
              <a:defRPr sz="1200">
                <a:solidFill>
                  <a:srgbClr val="2B3034"/>
                </a:solidFill>
                <a:latin typeface="Arial"/>
              </a:defRPr>
            </a:pPr>
            <a:r>
              <a:t>c) A placa funciona sem fios, soldas ou cabos conectores.</a:t>
            </a:r>
          </a:p>
          <a:p>
            <a:pPr>
              <a:spcAft>
                <a:spcPts val="400"/>
              </a:spcAft>
              <a:defRPr sz="1200">
                <a:solidFill>
                  <a:srgbClr val="2B3034"/>
                </a:solidFill>
                <a:latin typeface="Arial"/>
              </a:defRPr>
            </a:pPr>
            <a:r>
              <a:t>d) Os componentes internos só mudam com engenheiros credenciados.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0979C"/>
                </a:solidFill>
                <a:latin typeface="Arial"/>
              </a:defRPr>
            </a:pPr>
            <a:r>
              <a:t>Exercícios de Fixação — Bloco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B3034"/>
                </a:solidFill>
                <a:latin typeface="Arial"/>
              </a:defRPr>
            </a:pPr>
            <a:r>
              <a:t>Questão 3: Qual componente é o 'cérebro' do Arduino Uno?</a:t>
            </a:r>
          </a:p>
          <a:p>
            <a:pPr>
              <a:spcAft>
                <a:spcPts val="400"/>
              </a:spcAft>
              <a:defRPr sz="1100">
                <a:solidFill>
                  <a:srgbClr val="2B3034"/>
                </a:solidFill>
                <a:latin typeface="Arial"/>
              </a:defRPr>
            </a:pPr>
            <a:r>
              <a:t>a) O conector USB.</a:t>
            </a:r>
          </a:p>
          <a:p>
            <a:pPr>
              <a:spcAft>
                <a:spcPts val="400"/>
              </a:spcAft>
              <a:defRPr sz="1100">
                <a:solidFill>
                  <a:srgbClr val="2B3034"/>
                </a:solidFill>
                <a:latin typeface="Arial"/>
              </a:defRPr>
            </a:pPr>
            <a:r>
              <a:t>b) O botão de Reset.</a:t>
            </a:r>
          </a:p>
          <a:p>
            <a:pPr>
              <a:spcAft>
                <a:spcPts val="400"/>
              </a:spcAft>
              <a:defRPr sz="1100" b="1">
                <a:solidFill>
                  <a:srgbClr val="00979C"/>
                </a:solidFill>
                <a:latin typeface="Arial"/>
              </a:defRPr>
            </a:pPr>
            <a:r>
              <a:t>c) O microcontrolador (chip preto). [CORRETA]</a:t>
            </a:r>
          </a:p>
          <a:p>
            <a:pPr>
              <a:spcAft>
                <a:spcPts val="400"/>
              </a:spcAft>
              <a:defRPr sz="1100">
                <a:solidFill>
                  <a:srgbClr val="2B3034"/>
                </a:solidFill>
                <a:latin typeface="Arial"/>
              </a:defRPr>
            </a:pPr>
            <a:r>
              <a:t>d) Os fios jumpers.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46304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B3034"/>
                </a:solidFill>
                <a:latin typeface="Arial"/>
              </a:defRPr>
            </a:pPr>
            <a:r>
              <a:t>Questão 4: Qual a ordem correta do fluxo lógico de funcionamento?</a:t>
            </a:r>
          </a:p>
          <a:p>
            <a:pPr>
              <a:spcAft>
                <a:spcPts val="400"/>
              </a:spcAft>
              <a:defRPr sz="1100">
                <a:solidFill>
                  <a:srgbClr val="2B3034"/>
                </a:solidFill>
                <a:latin typeface="Arial"/>
              </a:defRPr>
            </a:pPr>
            <a:r>
              <a:t>a) [Processamento] -&gt; [Entrada] -&gt; [Saída]</a:t>
            </a:r>
          </a:p>
          <a:p>
            <a:pPr>
              <a:spcAft>
                <a:spcPts val="400"/>
              </a:spcAft>
              <a:defRPr sz="1100">
                <a:solidFill>
                  <a:srgbClr val="2B3034"/>
                </a:solidFill>
                <a:latin typeface="Arial"/>
              </a:defRPr>
            </a:pPr>
            <a:r>
              <a:t>b) [Saída] -&gt; [Processamento] -&gt; [Entrada]</a:t>
            </a:r>
          </a:p>
          <a:p>
            <a:pPr>
              <a:spcAft>
                <a:spcPts val="400"/>
              </a:spcAft>
              <a:defRPr sz="1100" b="1">
                <a:solidFill>
                  <a:srgbClr val="00979C"/>
                </a:solidFill>
                <a:latin typeface="Arial"/>
              </a:defRPr>
            </a:pPr>
            <a:r>
              <a:t>c) [Entrada] -&gt; [Processamento] -&gt; [Saída] [CORRETA]</a:t>
            </a:r>
          </a:p>
          <a:p>
            <a:pPr>
              <a:spcAft>
                <a:spcPts val="400"/>
              </a:spcAft>
              <a:defRPr sz="1100">
                <a:solidFill>
                  <a:srgbClr val="2B3034"/>
                </a:solidFill>
                <a:latin typeface="Arial"/>
              </a:defRPr>
            </a:pPr>
            <a:r>
              <a:t>d) [Entrada] -&gt; [Saída] -&gt; [Processamento]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46304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B3034"/>
                </a:solidFill>
                <a:latin typeface="Arial"/>
              </a:defRPr>
            </a:pPr>
            <a:r>
              <a:t>Questão 5: Para que servem os resistores com um LED no circuito?</a:t>
            </a:r>
          </a:p>
          <a:p>
            <a:pPr>
              <a:spcAft>
                <a:spcPts val="400"/>
              </a:spcAft>
              <a:defRPr sz="1100">
                <a:solidFill>
                  <a:srgbClr val="2B3034"/>
                </a:solidFill>
                <a:latin typeface="Arial"/>
              </a:defRPr>
            </a:pPr>
            <a:r>
              <a:t>a) Para aumentar a luz ao máximo.</a:t>
            </a:r>
          </a:p>
          <a:p>
            <a:pPr>
              <a:spcAft>
                <a:spcPts val="400"/>
              </a:spcAft>
              <a:defRPr sz="1100" b="1">
                <a:solidFill>
                  <a:srgbClr val="00979C"/>
                </a:solidFill>
                <a:latin typeface="Arial"/>
              </a:defRPr>
            </a:pPr>
            <a:r>
              <a:t>b) Para limitar a corrente e proteger o LED contra queimas. [CORRETA]</a:t>
            </a:r>
          </a:p>
          <a:p>
            <a:pPr>
              <a:spcAft>
                <a:spcPts val="400"/>
              </a:spcAft>
              <a:defRPr sz="1100">
                <a:solidFill>
                  <a:srgbClr val="2B3034"/>
                </a:solidFill>
                <a:latin typeface="Arial"/>
              </a:defRPr>
            </a:pPr>
            <a:r>
              <a:t>c) Para piscar o LED sem códigos.</a:t>
            </a:r>
          </a:p>
          <a:p>
            <a:pPr>
              <a:spcAft>
                <a:spcPts val="400"/>
              </a:spcAft>
              <a:defRPr sz="1100">
                <a:solidFill>
                  <a:srgbClr val="2B3034"/>
                </a:solidFill>
                <a:latin typeface="Arial"/>
              </a:defRPr>
            </a:pPr>
            <a:r>
              <a:t>d) Para conectar via Wi-Fi.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